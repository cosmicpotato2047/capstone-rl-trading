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80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66000"/>
            <a:ext cx="12193200" cy="7920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900000"/>
            <a:ext cx="1219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95959"/>
                </a:solidFill>
                <a:latin typeface="A2Z 5 Medium"/>
              </a:rPr>
              <a:t>캡스톤 디자인  |  6주차 연구 발표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440000"/>
            <a:ext cx="1219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0E2841"/>
                </a:solidFill>
                <a:latin typeface="A2Z 3 Light"/>
              </a:rPr>
              <a:t>BTC 동적 그리드 트레이딩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088000"/>
            <a:ext cx="1219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156082"/>
                </a:solidFill>
                <a:latin typeface="A2Z 6 SemiBold"/>
              </a:rPr>
              <a:t>RL 에이전트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0" y="2951999"/>
            <a:ext cx="4993200" cy="21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3096000"/>
            <a:ext cx="12193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95959"/>
                </a:solidFill>
                <a:latin typeface="Gowun Batang"/>
              </a:rPr>
              <a:t>2026년 4월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282000"/>
            <a:ext cx="1219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A2Z 5 Medium"/>
              </a:rPr>
              <a:t>21101215  이찬희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360000"/>
            <a:ext cx="113292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0E2841"/>
                </a:solidFill>
                <a:latin typeface="A2Z 6 SemiBold"/>
              </a:rPr>
              <a:t>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882000"/>
            <a:ext cx="11329200" cy="216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33200" y="6498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156082"/>
                </a:solidFill>
                <a:latin typeface="Gowun Batang"/>
              </a:rPr>
              <a:t>2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1152000"/>
            <a:ext cx="57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56082"/>
                </a:solidFill>
                <a:latin typeface="A2Z 6 SemiBold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1152000"/>
            <a:ext cx="7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E2841"/>
                </a:solidFill>
                <a:latin typeface="A2Z 3 Light"/>
              </a:rPr>
              <a:t>연구 개요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1728000"/>
            <a:ext cx="57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56082"/>
                </a:solidFill>
                <a:latin typeface="A2Z 6 SemiBold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" y="1728000"/>
            <a:ext cx="7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E2841"/>
                </a:solidFill>
                <a:latin typeface="A2Z 3 Light"/>
              </a:rPr>
              <a:t>데이터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2304000"/>
            <a:ext cx="57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56082"/>
                </a:solidFill>
                <a:latin typeface="A2Z 6 SemiBold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000" y="2304000"/>
            <a:ext cx="7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E2841"/>
                </a:solidFill>
                <a:latin typeface="A2Z 3 Light"/>
              </a:rPr>
              <a:t>MDP 설계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2880000"/>
            <a:ext cx="57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56082"/>
                </a:solidFill>
                <a:latin typeface="A2Z 6 SemiBold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0000" y="2880000"/>
            <a:ext cx="7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E2841"/>
                </a:solidFill>
                <a:latin typeface="A2Z 3 Light"/>
              </a:rPr>
              <a:t>매수/매도 실행 로직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3456000"/>
            <a:ext cx="57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56082"/>
                </a:solidFill>
                <a:latin typeface="A2Z 6 SemiBold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000" y="3456000"/>
            <a:ext cx="7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E2841"/>
                </a:solidFill>
                <a:latin typeface="A2Z 3 Light"/>
              </a:rPr>
              <a:t>베이스라인 전략 및 평가 결과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4032000"/>
            <a:ext cx="57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56082"/>
                </a:solidFill>
                <a:latin typeface="A2Z 6 SemiBold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0000" y="4032000"/>
            <a:ext cx="7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E2841"/>
                </a:solidFill>
                <a:latin typeface="A2Z 3 Light"/>
              </a:rPr>
              <a:t>PPO 학습 결과 및 분석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000" y="4608000"/>
            <a:ext cx="57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56082"/>
                </a:solidFill>
                <a:latin typeface="A2Z 6 SemiBold"/>
              </a:rP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000" y="4608000"/>
            <a:ext cx="7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E2841"/>
                </a:solidFill>
                <a:latin typeface="A2Z 3 Light"/>
              </a:rPr>
              <a:t>한계 및 향후 계획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340000"/>
            <a:ext cx="1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0">
                <a:solidFill>
                  <a:srgbClr val="156082"/>
                </a:solidFill>
                <a:latin typeface="A2Z 6 SemiBold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168000"/>
            <a:ext cx="1111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A2Z 3 Light"/>
              </a:rPr>
              <a:t>연구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33200" y="6498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156082"/>
                </a:solidFill>
                <a:latin typeface="Gowun Batang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360000"/>
            <a:ext cx="113292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0E2841"/>
                </a:solidFill>
                <a:latin typeface="A2Z 6 SemiBold"/>
              </a:rPr>
              <a:t>연구 주제 &amp; 질문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882000"/>
            <a:ext cx="11329200" cy="216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33200" y="6498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156082"/>
                </a:solidFill>
                <a:latin typeface="Gowun Batang"/>
              </a:rPr>
              <a:t>4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80000"/>
            <a:ext cx="11329200" cy="251999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A2Z 6 SemiBold"/>
              </a:rPr>
              <a:t>연구 주제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331999"/>
            <a:ext cx="11329200" cy="5544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600">
                <a:solidFill>
                  <a:srgbClr val="0E2841"/>
                </a:solidFill>
                <a:latin typeface="Gowun Batang"/>
              </a:rPr>
              <a:t>가격 방향 예측 없이 시장 상태(변동성·가격 수준)와 포지션 상태(손익·보유량·여력)만을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E2841"/>
                </a:solidFill>
                <a:latin typeface="Gowun Batang"/>
              </a:rPr>
              <a:t>state로 사용하는 PPO 기반 강화학습 에이전트의 비트코인 동적 그리드 트레이딩 전략 학습 및 행동 패턴 분석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2087999"/>
            <a:ext cx="11329200" cy="251999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A2Z 6 SemiBold"/>
              </a:rPr>
              <a:t>주 질문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2339998"/>
            <a:ext cx="11329200" cy="5544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600">
                <a:solidFill>
                  <a:srgbClr val="0E2841"/>
                </a:solidFill>
                <a:latin typeface="Gowun Batang"/>
              </a:rPr>
              <a:t>시장 상태와 포지션 상태에 반응하여 그리드 간격과 익절 목표를 동적으로 결정하는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E2841"/>
                </a:solidFill>
                <a:latin typeface="Gowun Batang"/>
              </a:rPr>
              <a:t>PPO 에이전트가 비트코인 시장에서 고정 그리드 전략 대비 Sharpe Ratio 기준 우위를 보이는가?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3095998"/>
            <a:ext cx="11329200" cy="251999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A2Z 6 SemiBold"/>
              </a:rPr>
              <a:t>부 질문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3347997"/>
            <a:ext cx="11329200" cy="5544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600">
                <a:solidFill>
                  <a:srgbClr val="0E2841"/>
                </a:solidFill>
                <a:latin typeface="Gowun Batang"/>
              </a:rPr>
              <a:t>학습된 에이전트는 어떤 시장 상태(변동성 수준, 가격 수준)에서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E2841"/>
                </a:solidFill>
                <a:latin typeface="Gowun Batang"/>
              </a:rPr>
              <a:t>어떤 그리드 간격(aggressiveness)과 익절 목표(profit_target)를 선택하는가?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340000"/>
            <a:ext cx="1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0">
                <a:solidFill>
                  <a:srgbClr val="156082"/>
                </a:solidFill>
                <a:latin typeface="A2Z 6 SemiBold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168000"/>
            <a:ext cx="1111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A2Z 3 Light"/>
              </a:rPr>
              <a:t>데이터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33200" y="6498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156082"/>
                </a:solidFill>
                <a:latin typeface="Gowun Batang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360000"/>
            <a:ext cx="113292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0E2841"/>
                </a:solidFill>
                <a:latin typeface="A2Z 6 SemiBold"/>
              </a:rPr>
              <a:t>데이터 구성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882000"/>
            <a:ext cx="11329200" cy="216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33200" y="6498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156082"/>
                </a:solidFill>
                <a:latin typeface="Gowun Batang"/>
              </a:rPr>
              <a:t>6 / 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2000" y="1080000"/>
          <a:ext cx="8352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000"/>
                <a:gridCol w="2880000"/>
                <a:gridCol w="4320000"/>
              </a:tblGrid>
              <a:tr h="32400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2Z 6 SemiBold"/>
                        </a:rPr>
                        <a:t>구분</a:t>
                      </a: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2Z 6 SemiBold"/>
                        </a:rPr>
                        <a:t>기간</a:t>
                      </a: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2Z 6 SemiBold"/>
                        </a:rPr>
                        <a:t>용도</a:t>
                      </a:r>
                    </a:p>
                  </a:txBody>
                  <a:tcPr>
                    <a:solidFill>
                      <a:srgbClr val="156082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Train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2020.01 ~ 2022.12  (25,916봉)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PPO 학습 — 상승·하락·횡보 레짐 혼재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Validation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2023.01 ~ 2023.12  (8,736봉)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학습 중 평가 (Val Sharpe 모니터링)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Test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2024.01 ~ 현재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00000"/>
                          </a:solidFill>
                          <a:latin typeface="A2Z 6 SemiBold"/>
                        </a:rPr>
                        <a:t>최종 평가 전까지 완전 봉인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32000" y="2375999"/>
            <a:ext cx="11329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E2841"/>
                </a:solidFill>
                <a:latin typeface="A2Z 6 SemiBold"/>
              </a:rPr>
              <a:t>처리된 데이터 구조 (Train 셋 상위 5행, 주요 컬럼)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32000" y="2700000"/>
          <a:ext cx="7452000" cy="1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152000"/>
                <a:gridCol w="1152000"/>
                <a:gridCol w="1584000"/>
                <a:gridCol w="1584000"/>
              </a:tblGrid>
              <a:tr h="27000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2Z 6 SemiBold"/>
                        </a:rPr>
                        <a:t>timestamp (UTC)</a:t>
                      </a: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2Z 6 SemiBold"/>
                        </a:rPr>
                        <a:t>close</a:t>
                      </a: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2Z 6 SemiBold"/>
                        </a:rPr>
                        <a:t>log_price</a:t>
                      </a: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2Z 6 SemiBold"/>
                        </a:rPr>
                        <a:t>zscore_log_price</a:t>
                      </a: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2Z 6 SemiBold"/>
                        </a:rPr>
                        <a:t>zscore_volatility</a:t>
                      </a:r>
                    </a:p>
                  </a:txBody>
                  <a:tcPr>
                    <a:solidFill>
                      <a:srgbClr val="156082"/>
                    </a:solidFill>
                  </a:tcPr>
                </a:tc>
              </a:tr>
              <a:tr h="270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2020-01-14 22:00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8,735.87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0.0716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1.015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0.194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270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2020-01-14 23:00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8,810.01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0.0796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1.300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0.059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</a:tr>
              <a:tr h="270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2020-01-15 00:00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8,772.86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0.0751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1.184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-0.007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270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2020-01-15 01:00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8,777.99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0.0754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1.229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-0.056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</a:tr>
              <a:tr h="270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2020-01-15 02:00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8,813.83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0.0791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1.386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-0.211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360000"/>
            <a:ext cx="113292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0E2841"/>
                </a:solidFill>
                <a:latin typeface="A2Z 6 SemiBold"/>
              </a:rPr>
              <a:t>전처리 — 파생 지표 &amp; 정규화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882000"/>
            <a:ext cx="11329200" cy="216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33200" y="6498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156082"/>
                </a:solidFill>
                <a:latin typeface="Gowun Batang"/>
              </a:rPr>
              <a:t>7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80000"/>
            <a:ext cx="11329200" cy="251999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A2Z 6 SemiBold"/>
              </a:rPr>
              <a:t>log_price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331999"/>
            <a:ext cx="11329200" cy="5544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600">
                <a:solidFill>
                  <a:srgbClr val="0E2841"/>
                </a:solidFill>
                <a:latin typeface="Gowun Batang"/>
              </a:rPr>
              <a:t>log_price = log(close / close.rolling(168).mean())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E2841"/>
                </a:solidFill>
                <a:latin typeface="Gowun Batang"/>
              </a:rPr>
              <a:t>→ 현재 가격이 최근 1주일(168봉) 평균 대비 얼마나 위/아래인가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2030399"/>
            <a:ext cx="11329200" cy="251999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A2Z 6 SemiBold"/>
              </a:rPr>
              <a:t>volatility_raw  (ATR 기반)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2282398"/>
            <a:ext cx="11329200" cy="7776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600">
                <a:solidFill>
                  <a:srgbClr val="0E2841"/>
                </a:solidFill>
                <a:latin typeface="Gowun Batang"/>
              </a:rPr>
              <a:t>volatility_raw = ATR(168) / price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E2841"/>
                </a:solidFill>
                <a:latin typeface="Gowun Batang"/>
              </a:rPr>
              <a:t>ATR = mean(True Range) over 168봉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E2841"/>
                </a:solidFill>
                <a:latin typeface="Gowun Batang"/>
              </a:rPr>
              <a:t>True Range = max(high - low,  |high - prev_close|,  |low - prev_close|)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3203998"/>
            <a:ext cx="11329200" cy="251999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A2Z 6 SemiBold"/>
              </a:rPr>
              <a:t>Rolling z-score 정규화  (window = 168)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3455997"/>
            <a:ext cx="11329200" cy="5544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600">
                <a:solidFill>
                  <a:srgbClr val="0E2841"/>
                </a:solidFill>
                <a:latin typeface="Gowun Batang"/>
              </a:rPr>
              <a:t>zscore(x, t) = ( x_t  -  mean(x_{t-167:t}) )  /  std(x_{t-167:t})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E2841"/>
                </a:solidFill>
                <a:latin typeface="Gowun Batang"/>
              </a:rPr>
              <a:t>→ 두 변수 모두 정규화 후 zscore_log_price, zscore_volatility 컬럼으로 저장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340000"/>
            <a:ext cx="1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0">
                <a:solidFill>
                  <a:srgbClr val="156082"/>
                </a:solidFill>
                <a:latin typeface="A2Z 6 SemiBold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168000"/>
            <a:ext cx="1111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A2Z 3 Light"/>
              </a:rPr>
              <a:t>MDP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33200" y="6498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156082"/>
                </a:solidFill>
                <a:latin typeface="Gowun Batang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360000"/>
            <a:ext cx="113292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0E2841"/>
                </a:solidFill>
                <a:latin typeface="A2Z 6 SemiBold"/>
              </a:rPr>
              <a:t>State Space  &amp;  Action Space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882000"/>
            <a:ext cx="11329200" cy="216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33200" y="6498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156082"/>
                </a:solidFill>
                <a:latin typeface="Gowun Batang"/>
              </a:rPr>
              <a:t>9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1044000"/>
            <a:ext cx="11329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56082"/>
                </a:solidFill>
                <a:latin typeface="A2Z 6 SemiBold"/>
              </a:rPr>
              <a:t>State  (5차원 연속, rolling z-score 정규화)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2000" y="1332000"/>
          <a:ext cx="8171999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2088000"/>
                <a:gridCol w="3960000"/>
                <a:gridCol w="1475999"/>
              </a:tblGrid>
              <a:tr h="28080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2Z 6 SemiBold"/>
                        </a:rPr>
                        <a:t>차원</a:t>
                      </a: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2Z 6 SemiBold"/>
                        </a:rPr>
                        <a:t>변수명</a:t>
                      </a: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2Z 6 SemiBold"/>
                        </a:rPr>
                        <a:t>의미</a:t>
                      </a: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2Z 6 SemiBold"/>
                        </a:rPr>
                        <a:t>미보유 시</a:t>
                      </a:r>
                    </a:p>
                  </a:txBody>
                  <a:tcPr>
                    <a:solidFill>
                      <a:srgbClr val="156082"/>
                    </a:solidFill>
                  </a:tcPr>
                </a:tc>
              </a:tr>
              <a:tr h="2808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[0]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log_price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현재가 / 7일 이동평균 비율 (로그)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그대로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2808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[1]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divergence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현재가와 평균매수단가의 괴리율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아래 참조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</a:tr>
              <a:tr h="2808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[2]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holdings_value_ratio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보유 BTC 평가액 / 초기 자본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0.0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2808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[3]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cash_ratio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현재 현금 / 초기 자본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그대로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</a:tr>
              <a:tr h="2808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[4]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volatility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ATR(168) / 현재가 (상대 변동성)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그대로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32000" y="3024000"/>
            <a:ext cx="11329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56082"/>
                </a:solidFill>
                <a:latin typeface="A2Z 6 SemiBold"/>
              </a:rPr>
              <a:t>Action  (2차원 연속 [0, 1]²)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32000" y="3311999"/>
          <a:ext cx="8172000" cy="91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2088000"/>
                <a:gridCol w="5436000"/>
              </a:tblGrid>
              <a:tr h="30600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2Z 6 SemiBold"/>
                        </a:rPr>
                        <a:t>차원</a:t>
                      </a: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2Z 6 SemiBold"/>
                        </a:rPr>
                        <a:t>변수명</a:t>
                      </a: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2Z 6 SemiBold"/>
                        </a:rPr>
                        <a:t>역할</a:t>
                      </a:r>
                    </a:p>
                  </a:txBody>
                  <a:tcPr>
                    <a:solidFill>
                      <a:srgbClr val="156082"/>
                    </a:solidFill>
                  </a:tcPr>
                </a:tc>
              </a:tr>
              <a:tr h="306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[0]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aggressiveness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매수 주문 간격 결정 — 클수록 현재가에서 멀리 주문  (0.01% ~ 5%)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306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[1]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profit_target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매도 주문 간격 결정 — 클수록 더 높은 목표 수익률 설정  (0.01% ~ 15%)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32000" y="6318000"/>
            <a:ext cx="11329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Gowun Batang"/>
              </a:rPr>
              <a:t>※ divergence: 보유 중→avg_price 기준 / 미보유+직전 사이클→last_avg_price 기준 / 이력 없음→0.0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360000"/>
            <a:ext cx="113292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0E2841"/>
                </a:solidFill>
                <a:latin typeface="A2Z 6 SemiBold"/>
              </a:rPr>
              <a:t>보상 함수  (Reward)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882000"/>
            <a:ext cx="11329200" cy="216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33200" y="6498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156082"/>
                </a:solidFill>
                <a:latin typeface="Gowun Batang"/>
              </a:rPr>
              <a:t>10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80000"/>
            <a:ext cx="11329200" cy="251999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A2Z 6 SemiBold"/>
              </a:rPr>
              <a:t>보상 공식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331999"/>
            <a:ext cx="11329200" cy="16704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600">
                <a:solidFill>
                  <a:srgbClr val="0E2841"/>
                </a:solidFill>
                <a:latin typeface="Gowun Batang"/>
              </a:rPr>
              <a:t>step_reward  =  (equity_t  -  equity_{t-1})  /  start_capital  -  fee_rate × n_trades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E2841"/>
                </a:solidFill>
                <a:latin typeface="Gowun Batang"/>
              </a:rPr>
              <a:t/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E2841"/>
                </a:solidFill>
                <a:latin typeface="Gowun Batang"/>
              </a:rPr>
              <a:t>  equity_t    :  현재 스텝 포트폴리오 총가치 (현금 + 보유 BTC 평가액)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E2841"/>
                </a:solidFill>
                <a:latin typeface="Gowun Batang"/>
              </a:rPr>
              <a:t>  fee_rate    :  0.05%  (Binance maker fee)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E2841"/>
                </a:solidFill>
                <a:latin typeface="Gowun Batang"/>
              </a:rPr>
              <a:t>  n_trades    :  해당 스텝에서 체결된 주문 수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E2841"/>
                </a:solidFill>
                <a:latin typeface="Gowun Batang"/>
              </a:rPr>
              <a:t/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E2841"/>
                </a:solidFill>
                <a:latin typeface="Gowun Batang"/>
              </a:rPr>
              <a:t>  → 사이클 종료 시 별도 보너스 없음. completed_cycles 리스트에 통계만 기록.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3168000"/>
            <a:ext cx="11329200" cy="251999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A2Z 6 SemiBold"/>
              </a:rPr>
              <a:t>Sharpe Ratio 연율화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3419999"/>
            <a:ext cx="11329200" cy="10008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600">
                <a:solidFill>
                  <a:srgbClr val="0E2841"/>
                </a:solidFill>
                <a:latin typeface="Gowun Batang"/>
              </a:rPr>
              <a:t>Sharpe  =  ( mean(r_t) / std(r_t) )  ×  √8760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E2841"/>
                </a:solidFill>
                <a:latin typeface="Gowun Batang"/>
              </a:rPr>
              <a:t/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E2841"/>
                </a:solidFill>
                <a:latin typeface="Gowun Batang"/>
              </a:rPr>
              <a:t>  r_t    :  매 시간봉 포트폴리오 수익률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E2841"/>
                </a:solidFill>
                <a:latin typeface="Gowun Batang"/>
              </a:rPr>
              <a:t>  √8760  :  연율화 계수  (1년 = 8,760시간봉)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340000"/>
            <a:ext cx="1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0">
                <a:solidFill>
                  <a:srgbClr val="156082"/>
                </a:solidFill>
                <a:latin typeface="A2Z 6 SemiBold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168000"/>
            <a:ext cx="1111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A2Z 3 Light"/>
              </a:rPr>
              <a:t>매수/매도 실행 로직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33200" y="6498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156082"/>
                </a:solidFill>
                <a:latin typeface="Gowun Batang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360000"/>
            <a:ext cx="113292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0E2841"/>
                </a:solidFill>
                <a:latin typeface="A2Z 6 SemiBold"/>
              </a:rPr>
              <a:t>주문 가격 계산  &amp;  예산 분할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882000"/>
            <a:ext cx="11329200" cy="216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33200" y="6498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156082"/>
                </a:solidFill>
                <a:latin typeface="Gowun Batang"/>
              </a:rPr>
              <a:t>12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80000"/>
            <a:ext cx="11329200" cy="251999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A2Z 6 SemiBold"/>
              </a:rPr>
              <a:t>Action → 주문 가격 변환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331999"/>
            <a:ext cx="11329200" cy="16704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500">
                <a:solidFill>
                  <a:srgbClr val="0E2841"/>
                </a:solidFill>
                <a:latin typeface="Gowun Batang"/>
              </a:rPr>
              <a:t>[ 매수 ]  기준: 현재가(price)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0E2841"/>
                </a:solidFill>
                <a:latin typeface="Gowun Batang"/>
              </a:rPr>
              <a:t>  buy_hi  = price × (1 - (0.0001 + agg × 0.05))    →  [0.01%,  5%] 아래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0E2841"/>
                </a:solidFill>
                <a:latin typeface="Gowun Batang"/>
              </a:rPr>
              <a:t>  buy_lo  = price × (1 - (0.001  + agg × 0.10))    →  [0.10%, 10%] 아래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0E2841"/>
                </a:solidFill>
                <a:latin typeface="Gowun Batang"/>
              </a:rPr>
              <a:t/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0E2841"/>
                </a:solidFill>
                <a:latin typeface="Gowun Batang"/>
              </a:rPr>
              <a:t>[ 매도 ]  sell_lo / sell_hi 는 기준 가격이 의도적으로 다름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0E2841"/>
                </a:solidFill>
                <a:latin typeface="Gowun Batang"/>
              </a:rPr>
              <a:t>  sell_lo = price     × (1 + (0.0001 + pt × 0.05))  →  시장 모멘텀 활용 (단기 소익)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0E2841"/>
                </a:solidFill>
                <a:latin typeface="Gowun Batang"/>
              </a:rPr>
              <a:t>  sell_hi = avg_price × (1 + (0.001  + pt × 0.15))  →  원가 기반 수익 보호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3095999"/>
            <a:ext cx="11329200" cy="251999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A2Z 6 SemiBold"/>
              </a:rPr>
              <a:t>주문 크기  (n_splits 예산 분할)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3347998"/>
            <a:ext cx="11329200" cy="12240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500">
                <a:solidFill>
                  <a:srgbClr val="0E2841"/>
                </a:solidFill>
                <a:latin typeface="Gowun Batang"/>
              </a:rPr>
              <a:t>cycle_slot_size = cycle_start_cash / n_splits  (=4)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0E2841"/>
                </a:solidFill>
                <a:latin typeface="Gowun Batang"/>
              </a:rPr>
              <a:t>per_order_size  = cycle_slot_size  / n_buy_orders  (=2)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0E2841"/>
                </a:solidFill>
                <a:latin typeface="Gowun Batang"/>
              </a:rPr>
              <a:t>threshold_btc   = cycle_slot_size  / price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0E2841"/>
                </a:solidFill>
                <a:latin typeface="Gowun Batang"/>
              </a:rPr>
              <a:t/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0E2841"/>
                </a:solidFill>
                <a:latin typeface="Gowun Batang"/>
              </a:rPr>
              <a:t>예시: $10,000 → slot=$2,500 / 주문당 $1,250  |  슬롯 소진 후 매수 완전 차단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360000"/>
            <a:ext cx="113292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0E2841"/>
                </a:solidFill>
                <a:latin typeface="A2Z 6 SemiBold"/>
              </a:rPr>
              <a:t>체결 판단  &amp;  SELL 우선 원칙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882000"/>
            <a:ext cx="11329200" cy="216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33200" y="6498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156082"/>
                </a:solidFill>
                <a:latin typeface="Gowun Batang"/>
              </a:rPr>
              <a:t>13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80000"/>
            <a:ext cx="11329200" cy="251999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A2Z 6 SemiBold"/>
              </a:rPr>
              <a:t>체결 조건  (다음 봉 high / low 기준)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331999"/>
            <a:ext cx="11329200" cy="14472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600">
                <a:solidFill>
                  <a:srgbClr val="0E2841"/>
                </a:solidFill>
                <a:latin typeface="Gowun Batang"/>
              </a:rPr>
              <a:t>① next_high  &gt;=  sell_lo   →  sell_lo 체결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E2841"/>
                </a:solidFill>
                <a:latin typeface="Gowun Batang"/>
              </a:rPr>
              <a:t>② next_high  &gt;=  sell_hi   →  sell_hi 체결  (avg_price 기준)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E2841"/>
                </a:solidFill>
                <a:latin typeface="Gowun Batang"/>
              </a:rPr>
              <a:t>③ next_low   &lt;=  buy_hi    →  buy_hi  체결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E2841"/>
                </a:solidFill>
                <a:latin typeface="Gowun Batang"/>
              </a:rPr>
              <a:t>④ next_low   &lt;=  buy_lo    →  buy_lo  체결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E2841"/>
                </a:solidFill>
                <a:latin typeface="Gowun Batang"/>
              </a:rPr>
              <a:t/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E2841"/>
                </a:solidFill>
                <a:latin typeface="Gowun Batang"/>
              </a:rPr>
              <a:t>  같은 봉에서 buy &amp; sell 동시 조건 충족 시 →  ①②를 먼저, ③④를 나중에 처리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2952000"/>
            <a:ext cx="11329200" cy="251999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A2Z 6 SemiBold"/>
              </a:rPr>
              <a:t>SELL 우선 원칙의 이유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3203999"/>
            <a:ext cx="11329200" cy="5544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600">
                <a:solidFill>
                  <a:srgbClr val="0E2841"/>
                </a:solidFill>
                <a:latin typeface="Gowun Batang"/>
              </a:rPr>
              <a:t>1. 같은 봉에서 매도 후 수익을 먼저 확정하고 재매수하는 것이 유리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E2841"/>
                </a:solidFill>
                <a:latin typeface="Gowun Batang"/>
              </a:rPr>
              <a:t>2. 동시 처리 시 포트폴리오 회계(현금 잔고, 평단가)가 불명확해지는 것을 방지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3959999"/>
            <a:ext cx="11329200" cy="251999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A2Z 6 SemiBold"/>
              </a:rPr>
              <a:t>매도 수량 결정  (threshold_btc)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4211998"/>
            <a:ext cx="11329200" cy="5544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600">
                <a:solidFill>
                  <a:srgbClr val="0E2841"/>
                </a:solidFill>
                <a:latin typeface="Gowun Batang"/>
              </a:rPr>
              <a:t>holdings  ≤  threshold_btc   →  전량 청산  (사이클 종료)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E2841"/>
                </a:solidFill>
                <a:latin typeface="Gowun Batang"/>
              </a:rPr>
              <a:t>holdings  &gt;  threshold_btc   →  holdings / n_splits  균등 분할 매도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340000"/>
            <a:ext cx="1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0">
                <a:solidFill>
                  <a:srgbClr val="156082"/>
                </a:solidFill>
                <a:latin typeface="A2Z 6 SemiBold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168000"/>
            <a:ext cx="1111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A2Z 3 Light"/>
              </a:rPr>
              <a:t>베이스라인 전략 및 평가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33200" y="6498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156082"/>
                </a:solidFill>
                <a:latin typeface="Gowun Batang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360000"/>
            <a:ext cx="113292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0E2841"/>
                </a:solidFill>
                <a:latin typeface="A2Z 6 SemiBold"/>
              </a:rPr>
              <a:t>베이스라인 Train / Val 평가 결과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882000"/>
            <a:ext cx="11329200" cy="216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33200" y="6498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156082"/>
                </a:solidFill>
                <a:latin typeface="Gowun Batang"/>
              </a:rPr>
              <a:t>15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1044000"/>
            <a:ext cx="11329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97132"/>
                </a:solidFill>
                <a:latin typeface="A2Z 6 SemiBold"/>
              </a:rPr>
              <a:t>★ PPO 목표:  Train Sharpe &gt; 0.818  (ATR k=0.5)  /  Val Sharpe &gt; 2.610  (Fixed Grid 1%)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2000" y="1367999"/>
          <a:ext cx="8172000" cy="236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000"/>
                <a:gridCol w="1224000"/>
                <a:gridCol w="1224000"/>
                <a:gridCol w="1224000"/>
                <a:gridCol w="1224000"/>
                <a:gridCol w="1692000"/>
              </a:tblGrid>
              <a:tr h="295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2Z 6 SemiBold"/>
                        </a:rPr>
                        <a:t>전략</a:t>
                      </a: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2Z 6 SemiBold"/>
                        </a:rPr>
                        <a:t>Train Sharpe</a:t>
                      </a: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2Z 6 SemiBold"/>
                        </a:rPr>
                        <a:t>Val Sharpe</a:t>
                      </a: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2Z 6 SemiBold"/>
                        </a:rPr>
                        <a:t>Train 수익률</a:t>
                      </a: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2Z 6 SemiBold"/>
                        </a:rPr>
                        <a:t>Val 수익률</a:t>
                      </a: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2Z 6 SemiBold"/>
                        </a:rPr>
                        <a:t>Val MDD</a:t>
                      </a:r>
                    </a:p>
                  </a:txBody>
                  <a:tcPr>
                    <a:solidFill>
                      <a:srgbClr val="156082"/>
                    </a:solidFill>
                  </a:tcPr>
                </a:tc>
              </a:tr>
              <a:tr h="295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Buy-and-Hold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0.666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2.377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+89.9%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+150.2%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21.7%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295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Fixed Grid 1%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0.620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375623"/>
                          </a:solidFill>
                          <a:latin typeface="A2Z 6 SemiBold"/>
                        </a:rPr>
                        <a:t>2.610 ★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+73.4%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+43.2%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10.8%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</a:tr>
              <a:tr h="295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Fixed Grid 2%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0.205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2.032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-2.0%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+17.0%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7.7%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295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Fixed Grid 5%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0.802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1.375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+50.0%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+2.5%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1.7%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</a:tr>
              <a:tr h="295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ATR Grid k=0.5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375623"/>
                          </a:solidFill>
                          <a:latin typeface="A2Z 6 SemiBold"/>
                        </a:rPr>
                        <a:t>0.818 ★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1.118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+122.1%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2+4.7%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16.1%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295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ATR Grid k=1.0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0.686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1.434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+86.4%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+39.8%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15.9%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</a:tr>
              <a:tr h="295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ATR Grid k=2.0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C00000"/>
                          </a:solidFill>
                          <a:latin typeface="Gowun Batang"/>
                        </a:rPr>
                        <a:t>-0.104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1.948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-46.5%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+29.0%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9.4%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32000" y="6138000"/>
            <a:ext cx="113292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Gowun Batang"/>
              </a:rPr>
              <a:t>Train(2020-2022)과 Val(2023) 순위 역전 주목 — Val은 BTC $16k→$42k 강세장으로 Buy-and-Hold 유리.
PPO 학습 환경은 Train이므로 Train Sharpe 기준 비교가 더 공정.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340000"/>
            <a:ext cx="1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0">
                <a:solidFill>
                  <a:srgbClr val="156082"/>
                </a:solidFill>
                <a:latin typeface="A2Z 6 SemiBold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168000"/>
            <a:ext cx="1111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A2Z 3 Light"/>
              </a:rPr>
              <a:t>PPO 학습 결과 및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33200" y="6498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156082"/>
                </a:solidFill>
                <a:latin typeface="Gowun Batang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360000"/>
            <a:ext cx="113292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0E2841"/>
                </a:solidFill>
                <a:latin typeface="A2Z 6 SemiBold"/>
              </a:rPr>
              <a:t>PPO  exp001 vs exp002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882000"/>
            <a:ext cx="11329200" cy="216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33200" y="6498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156082"/>
                </a:solidFill>
                <a:latin typeface="Gowun Batang"/>
              </a:rPr>
              <a:t>17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1044000"/>
            <a:ext cx="39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56082"/>
                </a:solidFill>
                <a:latin typeface="A2Z 6 SemiBold"/>
              </a:rPr>
              <a:t>하이퍼파라미터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2000" y="1332000"/>
          <a:ext cx="3815999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000"/>
                <a:gridCol w="1007999"/>
                <a:gridCol w="1080000"/>
              </a:tblGrid>
              <a:tr h="28800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2Z 6 SemiBold"/>
                        </a:rPr>
                        <a:t>파라미터</a:t>
                      </a: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2Z 6 SemiBold"/>
                        </a:rPr>
                        <a:t>exp001</a:t>
                      </a: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2Z 6 SemiBold"/>
                        </a:rPr>
                        <a:t>exp002</a:t>
                      </a:r>
                    </a:p>
                  </a:txBody>
                  <a:tcPr>
                    <a:solidFill>
                      <a:srgbClr val="156082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learning_rate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3e-4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1e-4  ↓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n_steps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2,048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4,096  ↑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batch_size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64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128  ↑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ent_coef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0.01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0.005  ↓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total_steps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1,000,000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1,000,000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463999" y="1044000"/>
            <a:ext cx="39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56082"/>
                </a:solidFill>
                <a:latin typeface="A2Z 6 SemiBold"/>
              </a:rPr>
              <a:t>학습 결과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463999" y="1332000"/>
          <a:ext cx="3852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936000"/>
                <a:gridCol w="936000"/>
              </a:tblGrid>
              <a:tr h="28800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2Z 6 SemiBold"/>
                        </a:rPr>
                        <a:t>지표</a:t>
                      </a: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2Z 6 SemiBold"/>
                        </a:rPr>
                        <a:t>exp001</a:t>
                      </a: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2Z 6 SemiBold"/>
                        </a:rPr>
                        <a:t>exp002</a:t>
                      </a:r>
                    </a:p>
                  </a:txBody>
                  <a:tcPr>
                    <a:solidFill>
                      <a:srgbClr val="156082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best Sharpe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0.795 (100k)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0.745 (50k)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final Sharpe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C00000"/>
                          </a:solidFill>
                          <a:latin typeface="Gowun Batang"/>
                        </a:rPr>
                        <a:t>-0.280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-0.095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평균 Sharpe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0.271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0.368  ↑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양수 비율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95.0%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90.0%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Train 베이스라인 최고 대비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C00000"/>
                          </a:solidFill>
                          <a:latin typeface="Gowun Batang"/>
                        </a:rPr>
                        <a:t>미달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C00000"/>
                          </a:solidFill>
                          <a:latin typeface="Gowun Batang"/>
                        </a:rPr>
                        <a:t>미달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32000" y="6138000"/>
            <a:ext cx="113292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Gowun Batang"/>
              </a:rPr>
              <a:t>해석: exp002는 안정성 개선(평균 Sharpe 0.271→0.368, final -0.280→-0.095).
그러나 두 실험 모두 Train 베이스라인(0.818) 미달. 단순 lr·ent_coef 조정만으로는 한계.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360000"/>
            <a:ext cx="113292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0E2841"/>
                </a:solidFill>
                <a:latin typeface="A2Z 6 SemiBold"/>
              </a:rPr>
              <a:t>한계 및 향후 계획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882000"/>
            <a:ext cx="11329200" cy="216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33200" y="6498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156082"/>
                </a:solidFill>
                <a:latin typeface="Gowun Batang"/>
              </a:rPr>
              <a:t>18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1044000"/>
            <a:ext cx="11329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56082"/>
                </a:solidFill>
                <a:latin typeface="A2Z 6 SemiBold"/>
              </a:rPr>
              <a:t>발견된 설계 이슈 (exp003 반영 예정)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2000" y="1332000"/>
          <a:ext cx="8172000" cy="14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0"/>
                <a:gridCol w="5292000"/>
              </a:tblGrid>
              <a:tr h="295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2Z 6 SemiBold"/>
                        </a:rPr>
                        <a:t>이슈</a:t>
                      </a: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2Z 6 SemiBold"/>
                        </a:rPr>
                        <a:t>개선 방향</a:t>
                      </a:r>
                    </a:p>
                  </a:txBody>
                  <a:tcPr>
                    <a:solidFill>
                      <a:srgbClr val="156082"/>
                    </a:solidFill>
                  </a:tcPr>
                </a:tc>
              </a:tr>
              <a:tr h="295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threshold_btc 분모 불명확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avg(sell_lo,sell_hi) → price 로 단순화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295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균등 분할 매도 기준 불일치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holdings/n_sell_orders → holdings/n_splits (매수 대칭)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</a:tr>
              <a:tr h="295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지정가 체결 방식 실전 불일치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조건 충족 시 지정가 → 그 시점 시장가로 체결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295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sell_lo/sell_hi 명칭 혼동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sell_market / sell_cost 로 변경 (기준 가격 명시)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32000" y="2952000"/>
            <a:ext cx="11329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56082"/>
                </a:solidFill>
                <a:latin typeface="A2Z 6 SemiBold"/>
              </a:rPr>
              <a:t>하이퍼파라미터 튜닝 방향 (exp003)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32000" y="3240000"/>
          <a:ext cx="8172000" cy="14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000"/>
                <a:gridCol w="2520000"/>
                <a:gridCol w="4140000"/>
              </a:tblGrid>
              <a:tr h="28080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2Z 6 SemiBold"/>
                        </a:rPr>
                        <a:t>방법</a:t>
                      </a: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2Z 6 SemiBold"/>
                        </a:rPr>
                        <a:t>내용</a:t>
                      </a: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2Z 6 SemiBold"/>
                        </a:rPr>
                        <a:t>기대 효과</a:t>
                      </a:r>
                    </a:p>
                  </a:txBody>
                  <a:tcPr>
                    <a:solidFill>
                      <a:srgbClr val="156082"/>
                    </a:solidFill>
                  </a:tcPr>
                </a:tc>
              </a:tr>
              <a:tr h="2808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VecNormalize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SB3 내장 reward/obs 자동 정규화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약한 보상 신호 문제 해결 (근본 원인)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2808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LR Scheduling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3e-4 → 1e-5  cosine decay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후반부 수렴 불안정 해소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</a:tr>
              <a:tr h="2808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더 긴 학습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1M → 3M 스텝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충분한 샘플 확보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2808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n_steps 증가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4,096 → 8,192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2841"/>
                          </a:solidFill>
                          <a:latin typeface="Gowun Batang"/>
                        </a:rPr>
                        <a:t>긴 에피소드 대응 (크레딧 할당 개선)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