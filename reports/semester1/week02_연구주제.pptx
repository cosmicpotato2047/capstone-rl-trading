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92000" cy="6858000"/>
  <p:notesSz cx="6858000" cy="9144000"/>
  <p:embeddedFontLst>
    <p:embeddedFont>
      <p:font typeface="A2Z 3 Light" pitchFamily="2" charset="-127"/>
      <p:regular r:id="rId17"/>
    </p:embeddedFont>
    <p:embeddedFont>
      <p:font typeface="A2Z 5 Medium" pitchFamily="2" charset="-127"/>
      <p:regular r:id="rId18"/>
    </p:embeddedFont>
    <p:embeddedFont>
      <p:font typeface="A2Z 6 SemiBold" pitchFamily="2" charset="-127"/>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E325A3-6F28-4E79-B755-DF96AAB990D3}"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BB1383-479D-4A55-A3CB-7C8DAD6C6612}" type="slidenum">
              <a:rPr lang="en-US" smtClean="0"/>
              <a:t>‹#›</a:t>
            </a:fld>
            <a:endParaRPr lang="en-US"/>
          </a:p>
        </p:txBody>
      </p:sp>
    </p:spTree>
    <p:extLst>
      <p:ext uri="{BB962C8B-B14F-4D97-AF65-F5344CB8AC3E}">
        <p14:creationId xmlns:p14="http://schemas.microsoft.com/office/powerpoint/2010/main" val="2406787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BB1383-479D-4A55-A3CB-7C8DAD6C6612}" type="slidenum">
              <a:rPr lang="en-US" smtClean="0"/>
              <a:t>13</a:t>
            </a:fld>
            <a:endParaRPr lang="en-US"/>
          </a:p>
        </p:txBody>
      </p:sp>
    </p:spTree>
    <p:extLst>
      <p:ext uri="{BB962C8B-B14F-4D97-AF65-F5344CB8AC3E}">
        <p14:creationId xmlns:p14="http://schemas.microsoft.com/office/powerpoint/2010/main" val="1799377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B9E43-FFC5-7F6B-AB88-92BA3CA005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8E047E2-686F-AE68-A54D-2563004455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182C05-2A3C-C066-DB24-3927E3DF8450}"/>
              </a:ext>
            </a:extLst>
          </p:cNvPr>
          <p:cNvSpPr>
            <a:spLocks noGrp="1"/>
          </p:cNvSpPr>
          <p:nvPr>
            <p:ph type="dt" sz="half" idx="10"/>
          </p:nvPr>
        </p:nvSpPr>
        <p:spPr/>
        <p:txBody>
          <a:bodyPr/>
          <a:lstStyle/>
          <a:p>
            <a:fld id="{20A54C88-70E4-4D04-8924-F67D1EB4853A}" type="datetimeFigureOut">
              <a:rPr lang="en-US" smtClean="0"/>
              <a:t>3/26/2026</a:t>
            </a:fld>
            <a:endParaRPr lang="en-US"/>
          </a:p>
        </p:txBody>
      </p:sp>
      <p:sp>
        <p:nvSpPr>
          <p:cNvPr id="5" name="Footer Placeholder 4">
            <a:extLst>
              <a:ext uri="{FF2B5EF4-FFF2-40B4-BE49-F238E27FC236}">
                <a16:creationId xmlns:a16="http://schemas.microsoft.com/office/drawing/2014/main" id="{EF748CEE-A33F-4B88-AC67-15EA2E4E17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93BFC8-7FB0-6E92-69F9-4A40C7D68AC7}"/>
              </a:ext>
            </a:extLst>
          </p:cNvPr>
          <p:cNvSpPr>
            <a:spLocks noGrp="1"/>
          </p:cNvSpPr>
          <p:nvPr>
            <p:ph type="sldNum" sz="quarter" idx="12"/>
          </p:nvPr>
        </p:nvSpPr>
        <p:spPr/>
        <p:txBody>
          <a:bodyPr/>
          <a:lstStyle/>
          <a:p>
            <a:fld id="{2233D217-31D0-4C9D-BB1C-05F51B0F074A}" type="slidenum">
              <a:rPr lang="en-US" smtClean="0"/>
              <a:t>‹#›</a:t>
            </a:fld>
            <a:endParaRPr lang="en-US"/>
          </a:p>
        </p:txBody>
      </p:sp>
    </p:spTree>
    <p:extLst>
      <p:ext uri="{BB962C8B-B14F-4D97-AF65-F5344CB8AC3E}">
        <p14:creationId xmlns:p14="http://schemas.microsoft.com/office/powerpoint/2010/main" val="2638845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CA645-BCFE-6AD0-26E6-7A2D63F7E5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9FEB70-2D4C-E15E-8E05-BB54A78D24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12C1BB-47B6-A0CB-CC0D-6C4289F8D818}"/>
              </a:ext>
            </a:extLst>
          </p:cNvPr>
          <p:cNvSpPr>
            <a:spLocks noGrp="1"/>
          </p:cNvSpPr>
          <p:nvPr>
            <p:ph type="dt" sz="half" idx="10"/>
          </p:nvPr>
        </p:nvSpPr>
        <p:spPr/>
        <p:txBody>
          <a:bodyPr/>
          <a:lstStyle/>
          <a:p>
            <a:fld id="{20A54C88-70E4-4D04-8924-F67D1EB4853A}" type="datetimeFigureOut">
              <a:rPr lang="en-US" smtClean="0"/>
              <a:t>3/26/2026</a:t>
            </a:fld>
            <a:endParaRPr lang="en-US"/>
          </a:p>
        </p:txBody>
      </p:sp>
      <p:sp>
        <p:nvSpPr>
          <p:cNvPr id="5" name="Footer Placeholder 4">
            <a:extLst>
              <a:ext uri="{FF2B5EF4-FFF2-40B4-BE49-F238E27FC236}">
                <a16:creationId xmlns:a16="http://schemas.microsoft.com/office/drawing/2014/main" id="{AD69531D-A997-EB79-CD6C-84A1E32D4D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83EBE1-98D2-4AF6-8F40-5409DA747B47}"/>
              </a:ext>
            </a:extLst>
          </p:cNvPr>
          <p:cNvSpPr>
            <a:spLocks noGrp="1"/>
          </p:cNvSpPr>
          <p:nvPr>
            <p:ph type="sldNum" sz="quarter" idx="12"/>
          </p:nvPr>
        </p:nvSpPr>
        <p:spPr/>
        <p:txBody>
          <a:bodyPr/>
          <a:lstStyle/>
          <a:p>
            <a:fld id="{2233D217-31D0-4C9D-BB1C-05F51B0F074A}" type="slidenum">
              <a:rPr lang="en-US" smtClean="0"/>
              <a:t>‹#›</a:t>
            </a:fld>
            <a:endParaRPr lang="en-US"/>
          </a:p>
        </p:txBody>
      </p:sp>
    </p:spTree>
    <p:extLst>
      <p:ext uri="{BB962C8B-B14F-4D97-AF65-F5344CB8AC3E}">
        <p14:creationId xmlns:p14="http://schemas.microsoft.com/office/powerpoint/2010/main" val="2588396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F905C-DA37-3645-04D3-7D71C67F42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9AEDE2-C55D-D1AF-B010-64451D2C1E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9EF0A4-3B75-7908-25C3-270B449F7467}"/>
              </a:ext>
            </a:extLst>
          </p:cNvPr>
          <p:cNvSpPr>
            <a:spLocks noGrp="1"/>
          </p:cNvSpPr>
          <p:nvPr>
            <p:ph type="dt" sz="half" idx="10"/>
          </p:nvPr>
        </p:nvSpPr>
        <p:spPr/>
        <p:txBody>
          <a:bodyPr/>
          <a:lstStyle/>
          <a:p>
            <a:fld id="{20A54C88-70E4-4D04-8924-F67D1EB4853A}" type="datetimeFigureOut">
              <a:rPr lang="en-US" smtClean="0"/>
              <a:t>3/26/2026</a:t>
            </a:fld>
            <a:endParaRPr lang="en-US"/>
          </a:p>
        </p:txBody>
      </p:sp>
      <p:sp>
        <p:nvSpPr>
          <p:cNvPr id="5" name="Footer Placeholder 4">
            <a:extLst>
              <a:ext uri="{FF2B5EF4-FFF2-40B4-BE49-F238E27FC236}">
                <a16:creationId xmlns:a16="http://schemas.microsoft.com/office/drawing/2014/main" id="{127BFD3C-99AF-D83C-E545-45681E617C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71039D-1475-AF98-1F77-AF28EDD53AAA}"/>
              </a:ext>
            </a:extLst>
          </p:cNvPr>
          <p:cNvSpPr>
            <a:spLocks noGrp="1"/>
          </p:cNvSpPr>
          <p:nvPr>
            <p:ph type="sldNum" sz="quarter" idx="12"/>
          </p:nvPr>
        </p:nvSpPr>
        <p:spPr/>
        <p:txBody>
          <a:bodyPr/>
          <a:lstStyle/>
          <a:p>
            <a:fld id="{2233D217-31D0-4C9D-BB1C-05F51B0F074A}" type="slidenum">
              <a:rPr lang="en-US" smtClean="0"/>
              <a:t>‹#›</a:t>
            </a:fld>
            <a:endParaRPr lang="en-US"/>
          </a:p>
        </p:txBody>
      </p:sp>
    </p:spTree>
    <p:extLst>
      <p:ext uri="{BB962C8B-B14F-4D97-AF65-F5344CB8AC3E}">
        <p14:creationId xmlns:p14="http://schemas.microsoft.com/office/powerpoint/2010/main" val="1221442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CE871-72E6-201A-7AB5-E53204C4E8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DE55E7-8FA8-08FC-8D17-995E53AB88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9F4F8D9-B3A6-FF49-2CBF-D33DA32006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ABA617-A0BB-2F75-F213-6734B3262D0A}"/>
              </a:ext>
            </a:extLst>
          </p:cNvPr>
          <p:cNvSpPr>
            <a:spLocks noGrp="1"/>
          </p:cNvSpPr>
          <p:nvPr>
            <p:ph type="dt" sz="half" idx="10"/>
          </p:nvPr>
        </p:nvSpPr>
        <p:spPr/>
        <p:txBody>
          <a:bodyPr/>
          <a:lstStyle/>
          <a:p>
            <a:fld id="{20A54C88-70E4-4D04-8924-F67D1EB4853A}" type="datetimeFigureOut">
              <a:rPr lang="en-US" smtClean="0"/>
              <a:t>3/26/2026</a:t>
            </a:fld>
            <a:endParaRPr lang="en-US"/>
          </a:p>
        </p:txBody>
      </p:sp>
      <p:sp>
        <p:nvSpPr>
          <p:cNvPr id="6" name="Footer Placeholder 5">
            <a:extLst>
              <a:ext uri="{FF2B5EF4-FFF2-40B4-BE49-F238E27FC236}">
                <a16:creationId xmlns:a16="http://schemas.microsoft.com/office/drawing/2014/main" id="{A0F228D0-A0CC-7B2C-B452-90FF9A39C1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926577-5AF7-FC01-1DE8-658EFE3F78A0}"/>
              </a:ext>
            </a:extLst>
          </p:cNvPr>
          <p:cNvSpPr>
            <a:spLocks noGrp="1"/>
          </p:cNvSpPr>
          <p:nvPr>
            <p:ph type="sldNum" sz="quarter" idx="12"/>
          </p:nvPr>
        </p:nvSpPr>
        <p:spPr/>
        <p:txBody>
          <a:bodyPr/>
          <a:lstStyle/>
          <a:p>
            <a:fld id="{2233D217-31D0-4C9D-BB1C-05F51B0F074A}" type="slidenum">
              <a:rPr lang="en-US" smtClean="0"/>
              <a:t>‹#›</a:t>
            </a:fld>
            <a:endParaRPr lang="en-US"/>
          </a:p>
        </p:txBody>
      </p:sp>
    </p:spTree>
    <p:extLst>
      <p:ext uri="{BB962C8B-B14F-4D97-AF65-F5344CB8AC3E}">
        <p14:creationId xmlns:p14="http://schemas.microsoft.com/office/powerpoint/2010/main" val="3829126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DB2D3-90B0-8DFC-C594-CAA81B4363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64512E-BC05-2D0B-BD2B-DE460B03D4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F1FEA2-2B25-98D3-1147-1318B09A9F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44FB55-C1D4-2C01-76B2-0A99BAB80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D2BE98-8955-276B-97D1-631BDAB9EF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5EC9B4-ACE7-E0D5-E1CD-C3BEF173D8E0}"/>
              </a:ext>
            </a:extLst>
          </p:cNvPr>
          <p:cNvSpPr>
            <a:spLocks noGrp="1"/>
          </p:cNvSpPr>
          <p:nvPr>
            <p:ph type="dt" sz="half" idx="10"/>
          </p:nvPr>
        </p:nvSpPr>
        <p:spPr/>
        <p:txBody>
          <a:bodyPr/>
          <a:lstStyle/>
          <a:p>
            <a:fld id="{20A54C88-70E4-4D04-8924-F67D1EB4853A}" type="datetimeFigureOut">
              <a:rPr lang="en-US" smtClean="0"/>
              <a:t>3/26/2026</a:t>
            </a:fld>
            <a:endParaRPr lang="en-US"/>
          </a:p>
        </p:txBody>
      </p:sp>
      <p:sp>
        <p:nvSpPr>
          <p:cNvPr id="8" name="Footer Placeholder 7">
            <a:extLst>
              <a:ext uri="{FF2B5EF4-FFF2-40B4-BE49-F238E27FC236}">
                <a16:creationId xmlns:a16="http://schemas.microsoft.com/office/drawing/2014/main" id="{76741D39-95B7-99CD-D42F-4266078595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BD2BB6-FED7-A96B-3AC3-95CD29C83C5C}"/>
              </a:ext>
            </a:extLst>
          </p:cNvPr>
          <p:cNvSpPr>
            <a:spLocks noGrp="1"/>
          </p:cNvSpPr>
          <p:nvPr>
            <p:ph type="sldNum" sz="quarter" idx="12"/>
          </p:nvPr>
        </p:nvSpPr>
        <p:spPr/>
        <p:txBody>
          <a:bodyPr/>
          <a:lstStyle/>
          <a:p>
            <a:fld id="{2233D217-31D0-4C9D-BB1C-05F51B0F074A}" type="slidenum">
              <a:rPr lang="en-US" smtClean="0"/>
              <a:t>‹#›</a:t>
            </a:fld>
            <a:endParaRPr lang="en-US"/>
          </a:p>
        </p:txBody>
      </p:sp>
    </p:spTree>
    <p:extLst>
      <p:ext uri="{BB962C8B-B14F-4D97-AF65-F5344CB8AC3E}">
        <p14:creationId xmlns:p14="http://schemas.microsoft.com/office/powerpoint/2010/main" val="4011405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C31DC-F1AC-0763-EC9B-92F55236C2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77184F-BA30-003B-08A9-0228CAB9CD7B}"/>
              </a:ext>
            </a:extLst>
          </p:cNvPr>
          <p:cNvSpPr>
            <a:spLocks noGrp="1"/>
          </p:cNvSpPr>
          <p:nvPr>
            <p:ph type="dt" sz="half" idx="10"/>
          </p:nvPr>
        </p:nvSpPr>
        <p:spPr/>
        <p:txBody>
          <a:bodyPr/>
          <a:lstStyle/>
          <a:p>
            <a:fld id="{20A54C88-70E4-4D04-8924-F67D1EB4853A}" type="datetimeFigureOut">
              <a:rPr lang="en-US" smtClean="0"/>
              <a:t>3/26/2026</a:t>
            </a:fld>
            <a:endParaRPr lang="en-US"/>
          </a:p>
        </p:txBody>
      </p:sp>
      <p:sp>
        <p:nvSpPr>
          <p:cNvPr id="4" name="Footer Placeholder 3">
            <a:extLst>
              <a:ext uri="{FF2B5EF4-FFF2-40B4-BE49-F238E27FC236}">
                <a16:creationId xmlns:a16="http://schemas.microsoft.com/office/drawing/2014/main" id="{A5FBAF83-E392-ACE2-3A34-CF4088C05C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353F6B-4670-D2CE-4E4D-A63A28690AD7}"/>
              </a:ext>
            </a:extLst>
          </p:cNvPr>
          <p:cNvSpPr>
            <a:spLocks noGrp="1"/>
          </p:cNvSpPr>
          <p:nvPr>
            <p:ph type="sldNum" sz="quarter" idx="12"/>
          </p:nvPr>
        </p:nvSpPr>
        <p:spPr/>
        <p:txBody>
          <a:bodyPr/>
          <a:lstStyle/>
          <a:p>
            <a:fld id="{2233D217-31D0-4C9D-BB1C-05F51B0F074A}" type="slidenum">
              <a:rPr lang="en-US" smtClean="0"/>
              <a:t>‹#›</a:t>
            </a:fld>
            <a:endParaRPr lang="en-US"/>
          </a:p>
        </p:txBody>
      </p:sp>
    </p:spTree>
    <p:extLst>
      <p:ext uri="{BB962C8B-B14F-4D97-AF65-F5344CB8AC3E}">
        <p14:creationId xmlns:p14="http://schemas.microsoft.com/office/powerpoint/2010/main" val="4090449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4872D8-E17C-4F8A-DE85-996EAA343C42}"/>
              </a:ext>
            </a:extLst>
          </p:cNvPr>
          <p:cNvSpPr>
            <a:spLocks noGrp="1"/>
          </p:cNvSpPr>
          <p:nvPr>
            <p:ph type="dt" sz="half" idx="10"/>
          </p:nvPr>
        </p:nvSpPr>
        <p:spPr/>
        <p:txBody>
          <a:bodyPr/>
          <a:lstStyle/>
          <a:p>
            <a:fld id="{20A54C88-70E4-4D04-8924-F67D1EB4853A}" type="datetimeFigureOut">
              <a:rPr lang="en-US" smtClean="0"/>
              <a:t>3/26/2026</a:t>
            </a:fld>
            <a:endParaRPr lang="en-US"/>
          </a:p>
        </p:txBody>
      </p:sp>
      <p:sp>
        <p:nvSpPr>
          <p:cNvPr id="3" name="Footer Placeholder 2">
            <a:extLst>
              <a:ext uri="{FF2B5EF4-FFF2-40B4-BE49-F238E27FC236}">
                <a16:creationId xmlns:a16="http://schemas.microsoft.com/office/drawing/2014/main" id="{2104D57B-48F5-8766-E9BA-3863DD15C6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625BF0-AFBE-756F-BE49-0EFD442E62B1}"/>
              </a:ext>
            </a:extLst>
          </p:cNvPr>
          <p:cNvSpPr>
            <a:spLocks noGrp="1"/>
          </p:cNvSpPr>
          <p:nvPr>
            <p:ph type="sldNum" sz="quarter" idx="12"/>
          </p:nvPr>
        </p:nvSpPr>
        <p:spPr/>
        <p:txBody>
          <a:bodyPr/>
          <a:lstStyle/>
          <a:p>
            <a:fld id="{2233D217-31D0-4C9D-BB1C-05F51B0F074A}" type="slidenum">
              <a:rPr lang="en-US" smtClean="0"/>
              <a:t>‹#›</a:t>
            </a:fld>
            <a:endParaRPr lang="en-US"/>
          </a:p>
        </p:txBody>
      </p:sp>
    </p:spTree>
    <p:extLst>
      <p:ext uri="{BB962C8B-B14F-4D97-AF65-F5344CB8AC3E}">
        <p14:creationId xmlns:p14="http://schemas.microsoft.com/office/powerpoint/2010/main" val="3138123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37335-68EF-5DB9-DE52-EDF5C0038F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2B0CB8-9E58-69FB-6612-7A8029015A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3FFA37-B491-C852-BE9F-2DC12DAC73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94130F-2EEF-CF39-498A-00BB26B86916}"/>
              </a:ext>
            </a:extLst>
          </p:cNvPr>
          <p:cNvSpPr>
            <a:spLocks noGrp="1"/>
          </p:cNvSpPr>
          <p:nvPr>
            <p:ph type="dt" sz="half" idx="10"/>
          </p:nvPr>
        </p:nvSpPr>
        <p:spPr/>
        <p:txBody>
          <a:bodyPr/>
          <a:lstStyle/>
          <a:p>
            <a:fld id="{20A54C88-70E4-4D04-8924-F67D1EB4853A}" type="datetimeFigureOut">
              <a:rPr lang="en-US" smtClean="0"/>
              <a:t>3/26/2026</a:t>
            </a:fld>
            <a:endParaRPr lang="en-US"/>
          </a:p>
        </p:txBody>
      </p:sp>
      <p:sp>
        <p:nvSpPr>
          <p:cNvPr id="6" name="Footer Placeholder 5">
            <a:extLst>
              <a:ext uri="{FF2B5EF4-FFF2-40B4-BE49-F238E27FC236}">
                <a16:creationId xmlns:a16="http://schemas.microsoft.com/office/drawing/2014/main" id="{B0A0BCD7-43CB-7647-1C83-806570CDE5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4A0754-17C0-10F1-7186-2252AC7EFA67}"/>
              </a:ext>
            </a:extLst>
          </p:cNvPr>
          <p:cNvSpPr>
            <a:spLocks noGrp="1"/>
          </p:cNvSpPr>
          <p:nvPr>
            <p:ph type="sldNum" sz="quarter" idx="12"/>
          </p:nvPr>
        </p:nvSpPr>
        <p:spPr/>
        <p:txBody>
          <a:bodyPr/>
          <a:lstStyle/>
          <a:p>
            <a:fld id="{2233D217-31D0-4C9D-BB1C-05F51B0F074A}" type="slidenum">
              <a:rPr lang="en-US" smtClean="0"/>
              <a:t>‹#›</a:t>
            </a:fld>
            <a:endParaRPr lang="en-US"/>
          </a:p>
        </p:txBody>
      </p:sp>
    </p:spTree>
    <p:extLst>
      <p:ext uri="{BB962C8B-B14F-4D97-AF65-F5344CB8AC3E}">
        <p14:creationId xmlns:p14="http://schemas.microsoft.com/office/powerpoint/2010/main" val="3696517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1D103-4F5E-96A9-C600-322174EEED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E41C9AF-70A2-6884-1D8B-EAFC21C74C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B73227-C60E-C6DC-A840-C5A371DBD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119D1B-9FE8-BF14-8DEE-D1CA3A108315}"/>
              </a:ext>
            </a:extLst>
          </p:cNvPr>
          <p:cNvSpPr>
            <a:spLocks noGrp="1"/>
          </p:cNvSpPr>
          <p:nvPr>
            <p:ph type="dt" sz="half" idx="10"/>
          </p:nvPr>
        </p:nvSpPr>
        <p:spPr/>
        <p:txBody>
          <a:bodyPr/>
          <a:lstStyle/>
          <a:p>
            <a:fld id="{20A54C88-70E4-4D04-8924-F67D1EB4853A}" type="datetimeFigureOut">
              <a:rPr lang="en-US" smtClean="0"/>
              <a:t>3/26/2026</a:t>
            </a:fld>
            <a:endParaRPr lang="en-US"/>
          </a:p>
        </p:txBody>
      </p:sp>
      <p:sp>
        <p:nvSpPr>
          <p:cNvPr id="6" name="Footer Placeholder 5">
            <a:extLst>
              <a:ext uri="{FF2B5EF4-FFF2-40B4-BE49-F238E27FC236}">
                <a16:creationId xmlns:a16="http://schemas.microsoft.com/office/drawing/2014/main" id="{8849599C-6812-CE64-B069-0A47B8B235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DBA452-612F-9AEB-1BA1-785041E745C9}"/>
              </a:ext>
            </a:extLst>
          </p:cNvPr>
          <p:cNvSpPr>
            <a:spLocks noGrp="1"/>
          </p:cNvSpPr>
          <p:nvPr>
            <p:ph type="sldNum" sz="quarter" idx="12"/>
          </p:nvPr>
        </p:nvSpPr>
        <p:spPr/>
        <p:txBody>
          <a:bodyPr/>
          <a:lstStyle/>
          <a:p>
            <a:fld id="{2233D217-31D0-4C9D-BB1C-05F51B0F074A}" type="slidenum">
              <a:rPr lang="en-US" smtClean="0"/>
              <a:t>‹#›</a:t>
            </a:fld>
            <a:endParaRPr lang="en-US"/>
          </a:p>
        </p:txBody>
      </p:sp>
    </p:spTree>
    <p:extLst>
      <p:ext uri="{BB962C8B-B14F-4D97-AF65-F5344CB8AC3E}">
        <p14:creationId xmlns:p14="http://schemas.microsoft.com/office/powerpoint/2010/main" val="3907282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AACF3-C421-D68D-DB80-4B4F444419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C3CE9FC-D8B5-0309-C348-716046AAD6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F53ED3-E8D0-8590-93C3-47CBAE66EE5D}"/>
              </a:ext>
            </a:extLst>
          </p:cNvPr>
          <p:cNvSpPr>
            <a:spLocks noGrp="1"/>
          </p:cNvSpPr>
          <p:nvPr>
            <p:ph type="dt" sz="half" idx="10"/>
          </p:nvPr>
        </p:nvSpPr>
        <p:spPr/>
        <p:txBody>
          <a:bodyPr/>
          <a:lstStyle/>
          <a:p>
            <a:fld id="{20A54C88-70E4-4D04-8924-F67D1EB4853A}" type="datetimeFigureOut">
              <a:rPr lang="en-US" smtClean="0"/>
              <a:t>3/26/2026</a:t>
            </a:fld>
            <a:endParaRPr lang="en-US"/>
          </a:p>
        </p:txBody>
      </p:sp>
      <p:sp>
        <p:nvSpPr>
          <p:cNvPr id="5" name="Footer Placeholder 4">
            <a:extLst>
              <a:ext uri="{FF2B5EF4-FFF2-40B4-BE49-F238E27FC236}">
                <a16:creationId xmlns:a16="http://schemas.microsoft.com/office/drawing/2014/main" id="{7014BFF0-F335-9847-7841-018F43F542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296F43-91A3-36FA-3AB0-44B7BA28002A}"/>
              </a:ext>
            </a:extLst>
          </p:cNvPr>
          <p:cNvSpPr>
            <a:spLocks noGrp="1"/>
          </p:cNvSpPr>
          <p:nvPr>
            <p:ph type="sldNum" sz="quarter" idx="12"/>
          </p:nvPr>
        </p:nvSpPr>
        <p:spPr/>
        <p:txBody>
          <a:bodyPr/>
          <a:lstStyle/>
          <a:p>
            <a:fld id="{2233D217-31D0-4C9D-BB1C-05F51B0F074A}" type="slidenum">
              <a:rPr lang="en-US" smtClean="0"/>
              <a:t>‹#›</a:t>
            </a:fld>
            <a:endParaRPr lang="en-US"/>
          </a:p>
        </p:txBody>
      </p:sp>
    </p:spTree>
    <p:extLst>
      <p:ext uri="{BB962C8B-B14F-4D97-AF65-F5344CB8AC3E}">
        <p14:creationId xmlns:p14="http://schemas.microsoft.com/office/powerpoint/2010/main" val="2269963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21381A-8DA1-FEC0-CF43-84D4D94D25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9E21A4-9EBB-2E55-720B-D0CF4C47BD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B79234-9209-F878-4697-EED57D7624CE}"/>
              </a:ext>
            </a:extLst>
          </p:cNvPr>
          <p:cNvSpPr>
            <a:spLocks noGrp="1"/>
          </p:cNvSpPr>
          <p:nvPr>
            <p:ph type="dt" sz="half" idx="10"/>
          </p:nvPr>
        </p:nvSpPr>
        <p:spPr/>
        <p:txBody>
          <a:bodyPr/>
          <a:lstStyle/>
          <a:p>
            <a:fld id="{20A54C88-70E4-4D04-8924-F67D1EB4853A}" type="datetimeFigureOut">
              <a:rPr lang="en-US" smtClean="0"/>
              <a:t>3/26/2026</a:t>
            </a:fld>
            <a:endParaRPr lang="en-US"/>
          </a:p>
        </p:txBody>
      </p:sp>
      <p:sp>
        <p:nvSpPr>
          <p:cNvPr id="5" name="Footer Placeholder 4">
            <a:extLst>
              <a:ext uri="{FF2B5EF4-FFF2-40B4-BE49-F238E27FC236}">
                <a16:creationId xmlns:a16="http://schemas.microsoft.com/office/drawing/2014/main" id="{8C94AB2F-E612-87A0-1975-B03110E4BE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ECEF86-7A32-26A8-3FFF-9A8071B17FB4}"/>
              </a:ext>
            </a:extLst>
          </p:cNvPr>
          <p:cNvSpPr>
            <a:spLocks noGrp="1"/>
          </p:cNvSpPr>
          <p:nvPr>
            <p:ph type="sldNum" sz="quarter" idx="12"/>
          </p:nvPr>
        </p:nvSpPr>
        <p:spPr/>
        <p:txBody>
          <a:bodyPr/>
          <a:lstStyle/>
          <a:p>
            <a:fld id="{2233D217-31D0-4C9D-BB1C-05F51B0F074A}" type="slidenum">
              <a:rPr lang="en-US" smtClean="0"/>
              <a:t>‹#›</a:t>
            </a:fld>
            <a:endParaRPr lang="en-US"/>
          </a:p>
        </p:txBody>
      </p:sp>
    </p:spTree>
    <p:extLst>
      <p:ext uri="{BB962C8B-B14F-4D97-AF65-F5344CB8AC3E}">
        <p14:creationId xmlns:p14="http://schemas.microsoft.com/office/powerpoint/2010/main" val="3173000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DBDBD3-FF35-B4D9-0F8D-DA927A464B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4AC349-3989-719F-4B08-E053C8383D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719AF9-A0DD-5DBB-A203-CB8E961492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A54C88-70E4-4D04-8924-F67D1EB4853A}" type="datetimeFigureOut">
              <a:rPr lang="en-US" smtClean="0"/>
              <a:t>3/26/2026</a:t>
            </a:fld>
            <a:endParaRPr lang="en-US"/>
          </a:p>
        </p:txBody>
      </p:sp>
      <p:sp>
        <p:nvSpPr>
          <p:cNvPr id="5" name="Footer Placeholder 4">
            <a:extLst>
              <a:ext uri="{FF2B5EF4-FFF2-40B4-BE49-F238E27FC236}">
                <a16:creationId xmlns:a16="http://schemas.microsoft.com/office/drawing/2014/main" id="{C017D71C-4036-F51F-A6EB-0BBB599199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BF0DB88-918A-55DA-F1E1-991AAD7F13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33D217-31D0-4C9D-BB1C-05F51B0F074A}" type="slidenum">
              <a:rPr lang="en-US" smtClean="0"/>
              <a:t>‹#›</a:t>
            </a:fld>
            <a:endParaRPr lang="en-US"/>
          </a:p>
        </p:txBody>
      </p:sp>
    </p:spTree>
    <p:extLst>
      <p:ext uri="{BB962C8B-B14F-4D97-AF65-F5344CB8AC3E}">
        <p14:creationId xmlns:p14="http://schemas.microsoft.com/office/powerpoint/2010/main" val="3750587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C2A7-49A4-95FD-16F0-C9846BA89F4B}"/>
              </a:ext>
            </a:extLst>
          </p:cNvPr>
          <p:cNvSpPr>
            <a:spLocks noGrp="1"/>
          </p:cNvSpPr>
          <p:nvPr>
            <p:ph type="ctrTitle"/>
          </p:nvPr>
        </p:nvSpPr>
        <p:spPr>
          <a:xfrm>
            <a:off x="1524000" y="1122362"/>
            <a:ext cx="9144000" cy="3787965"/>
          </a:xfrm>
        </p:spPr>
        <p:txBody>
          <a:bodyPr>
            <a:normAutofit fontScale="90000"/>
          </a:bodyPr>
          <a:lstStyle/>
          <a:p>
            <a:pPr>
              <a:lnSpc>
                <a:spcPct val="150000"/>
              </a:lnSpc>
            </a:pPr>
            <a:r>
              <a:rPr lang="ko-KR" altLang="en-US" b="1" dirty="0">
                <a:effectLst/>
                <a:latin typeface="A2Z 3 Light" pitchFamily="2" charset="-127"/>
                <a:ea typeface="A2Z 3 Light" pitchFamily="2" charset="-127"/>
              </a:rPr>
              <a:t>변동성 기반</a:t>
            </a:r>
            <a:r>
              <a:rPr lang="en-US" altLang="ko-KR" b="1" dirty="0">
                <a:effectLst/>
                <a:latin typeface="A2Z 3 Light" pitchFamily="2" charset="-127"/>
                <a:ea typeface="A2Z 3 Light" pitchFamily="2" charset="-127"/>
              </a:rPr>
              <a:t>, </a:t>
            </a:r>
            <a:r>
              <a:rPr lang="ko-KR" altLang="en-US" b="1" dirty="0">
                <a:effectLst/>
                <a:latin typeface="A2Z 3 Light" pitchFamily="2" charset="-127"/>
                <a:ea typeface="A2Z 3 Light" pitchFamily="2" charset="-127"/>
              </a:rPr>
              <a:t>정액 분할매매 </a:t>
            </a:r>
            <a:br>
              <a:rPr lang="en-US" altLang="ko-KR" b="1" dirty="0">
                <a:effectLst/>
                <a:latin typeface="A2Z 3 Light" pitchFamily="2" charset="-127"/>
                <a:ea typeface="A2Z 3 Light" pitchFamily="2" charset="-127"/>
              </a:rPr>
            </a:br>
            <a:r>
              <a:rPr lang="ko-KR" altLang="en-US" b="1" dirty="0">
                <a:effectLst/>
                <a:latin typeface="A2Z 3 Light" pitchFamily="2" charset="-127"/>
                <a:ea typeface="A2Z 3 Light" pitchFamily="2" charset="-127"/>
              </a:rPr>
              <a:t>전략의 설계와 </a:t>
            </a:r>
            <a:br>
              <a:rPr lang="en-US" altLang="ko-KR" b="1" dirty="0">
                <a:effectLst/>
                <a:latin typeface="A2Z 3 Light" pitchFamily="2" charset="-127"/>
                <a:ea typeface="A2Z 3 Light" pitchFamily="2" charset="-127"/>
              </a:rPr>
            </a:br>
            <a:r>
              <a:rPr lang="ko-KR" altLang="en-US" b="1" dirty="0">
                <a:effectLst/>
                <a:latin typeface="A2Z 3 Light" pitchFamily="2" charset="-127"/>
                <a:ea typeface="A2Z 3 Light" pitchFamily="2" charset="-127"/>
              </a:rPr>
              <a:t>금융 시장</a:t>
            </a:r>
            <a:r>
              <a:rPr lang="ko-KR" altLang="en-US" b="1" dirty="0">
                <a:latin typeface="A2Z 3 Light" pitchFamily="2" charset="-127"/>
                <a:ea typeface="A2Z 3 Light" pitchFamily="2" charset="-127"/>
              </a:rPr>
              <a:t>에서의</a:t>
            </a:r>
            <a:r>
              <a:rPr lang="ko-KR" altLang="en-US" b="1" dirty="0">
                <a:effectLst/>
                <a:latin typeface="A2Z 3 Light" pitchFamily="2" charset="-127"/>
                <a:ea typeface="A2Z 3 Light" pitchFamily="2" charset="-127"/>
              </a:rPr>
              <a:t> 검증</a:t>
            </a:r>
            <a:endParaRPr lang="en-US" dirty="0">
              <a:latin typeface="A2Z 3 Light" pitchFamily="2" charset="-127"/>
              <a:ea typeface="A2Z 3 Light" pitchFamily="2" charset="-127"/>
            </a:endParaRPr>
          </a:p>
        </p:txBody>
      </p:sp>
      <p:sp>
        <p:nvSpPr>
          <p:cNvPr id="3" name="Subtitle 2">
            <a:extLst>
              <a:ext uri="{FF2B5EF4-FFF2-40B4-BE49-F238E27FC236}">
                <a16:creationId xmlns:a16="http://schemas.microsoft.com/office/drawing/2014/main" id="{0E8705D9-2B11-907B-234A-4F8E01FCB950}"/>
              </a:ext>
            </a:extLst>
          </p:cNvPr>
          <p:cNvSpPr>
            <a:spLocks noGrp="1"/>
          </p:cNvSpPr>
          <p:nvPr>
            <p:ph type="subTitle" idx="1"/>
          </p:nvPr>
        </p:nvSpPr>
        <p:spPr>
          <a:xfrm>
            <a:off x="1524000" y="5842318"/>
            <a:ext cx="9144000" cy="1655762"/>
          </a:xfrm>
        </p:spPr>
        <p:txBody>
          <a:bodyPr/>
          <a:lstStyle/>
          <a:p>
            <a:r>
              <a:rPr lang="en-US">
                <a:latin typeface="A2Z 5 Medium" pitchFamily="2" charset="-127"/>
                <a:ea typeface="A2Z 5 Medium" pitchFamily="2" charset="-127"/>
              </a:rPr>
              <a:t>21101215 </a:t>
            </a:r>
            <a:r>
              <a:rPr lang="ko-KR" altLang="en-US" dirty="0">
                <a:latin typeface="A2Z 5 Medium" pitchFamily="2" charset="-127"/>
                <a:ea typeface="A2Z 5 Medium" pitchFamily="2" charset="-127"/>
              </a:rPr>
              <a:t>이찬희</a:t>
            </a:r>
            <a:endParaRPr lang="en-US" dirty="0">
              <a:latin typeface="A2Z 5 Medium" pitchFamily="2" charset="-127"/>
              <a:ea typeface="A2Z 5 Medium" pitchFamily="2" charset="-127"/>
            </a:endParaRPr>
          </a:p>
        </p:txBody>
      </p:sp>
    </p:spTree>
    <p:extLst>
      <p:ext uri="{BB962C8B-B14F-4D97-AF65-F5344CB8AC3E}">
        <p14:creationId xmlns:p14="http://schemas.microsoft.com/office/powerpoint/2010/main" val="2299631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1407C-576D-0048-8573-96DC92BDE8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FE5E5-0EB6-4C9E-99DC-6ED31CA6C381}"/>
              </a:ext>
            </a:extLst>
          </p:cNvPr>
          <p:cNvSpPr>
            <a:spLocks noGrp="1"/>
          </p:cNvSpPr>
          <p:nvPr>
            <p:ph type="ctrTitle"/>
          </p:nvPr>
        </p:nvSpPr>
        <p:spPr>
          <a:xfrm>
            <a:off x="918972" y="1280160"/>
            <a:ext cx="10354056" cy="4443983"/>
          </a:xfrm>
        </p:spPr>
        <p:txBody>
          <a:bodyPr>
            <a:noAutofit/>
          </a:bodyPr>
          <a:lstStyle/>
          <a:p>
            <a:pPr algn="l">
              <a:lnSpc>
                <a:spcPct val="150000"/>
              </a:lnSpc>
            </a:pPr>
            <a:br>
              <a:rPr lang="en-US" altLang="ko-KR" sz="3200" u="sng" dirty="0">
                <a:latin typeface="gowun"/>
                <a:ea typeface="A2Z 3 Light" pitchFamily="2" charset="-127"/>
              </a:rPr>
            </a:br>
            <a:br>
              <a:rPr lang="ko-KR" altLang="en-US" sz="3200" dirty="0">
                <a:latin typeface="gowun"/>
                <a:ea typeface="A2Z 3 Light" pitchFamily="2" charset="-127"/>
              </a:rPr>
            </a:br>
            <a:r>
              <a:rPr lang="ko-KR" altLang="en-US" sz="3200" u="sng" dirty="0">
                <a:latin typeface="gowun"/>
                <a:ea typeface="A2Z 3 Light" pitchFamily="2" charset="-127"/>
              </a:rPr>
              <a:t>자산별 평균 변동성을 기반으로 </a:t>
            </a:r>
            <a:r>
              <a:rPr lang="ko-KR" altLang="en-US" sz="3200" dirty="0">
                <a:latin typeface="gowun"/>
                <a:ea typeface="A2Z 3 Light" pitchFamily="2" charset="-127"/>
              </a:rPr>
              <a:t>매수</a:t>
            </a:r>
            <a:r>
              <a:rPr lang="en-US" altLang="ko-KR" sz="3200" dirty="0">
                <a:latin typeface="gowun"/>
                <a:ea typeface="A2Z 3 Light" pitchFamily="2" charset="-127"/>
              </a:rPr>
              <a:t>·</a:t>
            </a:r>
            <a:r>
              <a:rPr lang="ko-KR" altLang="en-US" sz="3200" dirty="0">
                <a:latin typeface="gowun"/>
                <a:ea typeface="A2Z 3 Light" pitchFamily="2" charset="-127"/>
              </a:rPr>
              <a:t>매도 가격을 설정하고</a:t>
            </a:r>
            <a:r>
              <a:rPr lang="en-US" altLang="ko-KR" sz="3200" dirty="0">
                <a:latin typeface="gowun"/>
                <a:ea typeface="A2Z 3 Light" pitchFamily="2" charset="-127"/>
              </a:rPr>
              <a:t>,</a:t>
            </a:r>
            <a:r>
              <a:rPr lang="ko-KR" altLang="en-US" sz="3200" dirty="0">
                <a:latin typeface="gowun"/>
                <a:ea typeface="A2Z 3 Light" pitchFamily="2" charset="-127"/>
              </a:rPr>
              <a:t> </a:t>
            </a:r>
            <a:br>
              <a:rPr lang="en-US" altLang="ko-KR" sz="3200" dirty="0">
                <a:latin typeface="gowun"/>
                <a:ea typeface="A2Z 3 Light" pitchFamily="2" charset="-127"/>
              </a:rPr>
            </a:br>
            <a:br>
              <a:rPr lang="en-US" altLang="ko-KR" sz="3200" dirty="0">
                <a:latin typeface="gowun"/>
                <a:ea typeface="A2Z 3 Light" pitchFamily="2" charset="-127"/>
              </a:rPr>
            </a:br>
            <a:r>
              <a:rPr lang="ko-KR" altLang="en-US" sz="3200" dirty="0">
                <a:latin typeface="gowun"/>
                <a:ea typeface="A2Z 3 Light" pitchFamily="2" charset="-127"/>
              </a:rPr>
              <a:t>일정 주기마다 매매 여부를 판단하는 </a:t>
            </a:r>
            <a:r>
              <a:rPr lang="ko-KR" altLang="en-US" sz="3200" u="sng" dirty="0">
                <a:latin typeface="gowun"/>
                <a:ea typeface="A2Z 3 Light" pitchFamily="2" charset="-127"/>
              </a:rPr>
              <a:t>정액 분할매매 전략은</a:t>
            </a:r>
            <a:br>
              <a:rPr lang="en-US" altLang="ko-KR" sz="3200" dirty="0">
                <a:latin typeface="gowun"/>
                <a:ea typeface="A2Z 3 Light" pitchFamily="2" charset="-127"/>
              </a:rPr>
            </a:br>
            <a:br>
              <a:rPr lang="en-US" altLang="ko-KR" sz="3200" dirty="0">
                <a:latin typeface="gowun"/>
                <a:ea typeface="A2Z 3 Light" pitchFamily="2" charset="-127"/>
              </a:rPr>
            </a:br>
            <a:r>
              <a:rPr lang="ko-KR" altLang="en-US" sz="3200" u="sng" dirty="0">
                <a:latin typeface="gowun"/>
                <a:ea typeface="A2Z 3 Light" pitchFamily="2" charset="-127"/>
              </a:rPr>
              <a:t>다양한 금융 시장에서 유효한가</a:t>
            </a:r>
            <a:r>
              <a:rPr lang="en-US" altLang="ko-KR" sz="3200" u="sng" dirty="0">
                <a:latin typeface="gowun"/>
                <a:ea typeface="A2Z 3 Light" pitchFamily="2" charset="-127"/>
              </a:rPr>
              <a:t>?</a:t>
            </a:r>
            <a:endParaRPr lang="en-US" sz="3200" u="sng" dirty="0">
              <a:latin typeface="gowun"/>
              <a:ea typeface="A2Z 3 Light" pitchFamily="2" charset="-127"/>
            </a:endParaRPr>
          </a:p>
        </p:txBody>
      </p:sp>
      <p:sp>
        <p:nvSpPr>
          <p:cNvPr id="10" name="TextBox 9">
            <a:extLst>
              <a:ext uri="{FF2B5EF4-FFF2-40B4-BE49-F238E27FC236}">
                <a16:creationId xmlns:a16="http://schemas.microsoft.com/office/drawing/2014/main" id="{5266B709-942B-6413-E7A3-20375CDD567F}"/>
              </a:ext>
            </a:extLst>
          </p:cNvPr>
          <p:cNvSpPr txBox="1"/>
          <p:nvPr/>
        </p:nvSpPr>
        <p:spPr>
          <a:xfrm>
            <a:off x="923544" y="676656"/>
            <a:ext cx="4105656" cy="584775"/>
          </a:xfrm>
          <a:prstGeom prst="rect">
            <a:avLst/>
          </a:prstGeom>
          <a:noFill/>
        </p:spPr>
        <p:txBody>
          <a:bodyPr wrap="square" rtlCol="0">
            <a:spAutoFit/>
          </a:bodyPr>
          <a:lstStyle/>
          <a:p>
            <a:r>
              <a:rPr lang="ko-KR" altLang="en-US" sz="3200" b="1" dirty="0">
                <a:latin typeface="A2Z 6 SemiBold" pitchFamily="2" charset="-127"/>
                <a:ea typeface="A2Z 6 SemiBold" pitchFamily="2" charset="-127"/>
              </a:rPr>
              <a:t>연구 질문</a:t>
            </a:r>
            <a:r>
              <a:rPr lang="en-US" altLang="ko-KR" sz="3200" b="1" dirty="0">
                <a:latin typeface="A2Z 6 SemiBold" pitchFamily="2" charset="-127"/>
                <a:ea typeface="A2Z 6 SemiBold" pitchFamily="2" charset="-127"/>
              </a:rPr>
              <a:t>:</a:t>
            </a:r>
            <a:endParaRPr lang="en-US" sz="3200" dirty="0">
              <a:latin typeface="A2Z 6 SemiBold" pitchFamily="2" charset="-127"/>
              <a:ea typeface="A2Z 6 SemiBold" pitchFamily="2" charset="-127"/>
            </a:endParaRPr>
          </a:p>
        </p:txBody>
      </p:sp>
    </p:spTree>
    <p:extLst>
      <p:ext uri="{BB962C8B-B14F-4D97-AF65-F5344CB8AC3E}">
        <p14:creationId xmlns:p14="http://schemas.microsoft.com/office/powerpoint/2010/main" val="452640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65AB6-7C4D-9721-AF22-77C07D6F2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05FFBB-2660-A903-4537-8AA2E4DEB47E}"/>
              </a:ext>
            </a:extLst>
          </p:cNvPr>
          <p:cNvSpPr>
            <a:spLocks noGrp="1"/>
          </p:cNvSpPr>
          <p:nvPr>
            <p:ph type="ctrTitle"/>
          </p:nvPr>
        </p:nvSpPr>
        <p:spPr>
          <a:xfrm>
            <a:off x="1226058" y="1709928"/>
            <a:ext cx="3022092" cy="4443983"/>
          </a:xfrm>
        </p:spPr>
        <p:txBody>
          <a:bodyPr>
            <a:noAutofit/>
          </a:bodyPr>
          <a:lstStyle/>
          <a:p>
            <a:pPr algn="l">
              <a:lnSpc>
                <a:spcPct val="200000"/>
              </a:lnSpc>
            </a:pPr>
            <a:r>
              <a:rPr lang="en-US" altLang="ko-KR" sz="3200" b="1" dirty="0">
                <a:latin typeface="gowun"/>
                <a:ea typeface="A2Z 3 Light" pitchFamily="2" charset="-127"/>
              </a:rPr>
              <a:t>Contents</a:t>
            </a:r>
            <a:br>
              <a:rPr lang="ko-KR" altLang="en-US" sz="3200" dirty="0">
                <a:latin typeface="gowun"/>
                <a:ea typeface="A2Z 3 Light" pitchFamily="2" charset="-127"/>
              </a:rPr>
            </a:br>
            <a:r>
              <a:rPr lang="en-US" altLang="ko-KR" sz="3200" dirty="0">
                <a:latin typeface="A2Z 3 Light" pitchFamily="2" charset="-127"/>
                <a:ea typeface="A2Z 3 Light" pitchFamily="2" charset="-127"/>
              </a:rPr>
              <a:t>1. </a:t>
            </a:r>
            <a:r>
              <a:rPr lang="ko-KR" altLang="en-US" sz="3200" dirty="0">
                <a:latin typeface="A2Z 3 Light" pitchFamily="2" charset="-127"/>
                <a:ea typeface="A2Z 3 Light" pitchFamily="2" charset="-127"/>
              </a:rPr>
              <a:t>연구 배경 </a:t>
            </a:r>
            <a:br>
              <a:rPr lang="en-US" altLang="ko-KR" sz="3200" dirty="0">
                <a:latin typeface="A2Z 3 Light" pitchFamily="2" charset="-127"/>
                <a:ea typeface="A2Z 3 Light" pitchFamily="2" charset="-127"/>
              </a:rPr>
            </a:br>
            <a:r>
              <a:rPr lang="en-US" altLang="ko-KR" sz="3200" dirty="0">
                <a:latin typeface="A2Z 3 Light" pitchFamily="2" charset="-127"/>
                <a:ea typeface="A2Z 3 Light" pitchFamily="2" charset="-127"/>
              </a:rPr>
              <a:t>2. </a:t>
            </a:r>
            <a:r>
              <a:rPr lang="ko-KR" altLang="en-US" sz="3200" dirty="0">
                <a:latin typeface="A2Z 3 Light" pitchFamily="2" charset="-127"/>
                <a:ea typeface="A2Z 3 Light" pitchFamily="2" charset="-127"/>
              </a:rPr>
              <a:t>문제 정의 </a:t>
            </a:r>
            <a:br>
              <a:rPr lang="en-US" altLang="ko-KR" sz="3200" dirty="0">
                <a:latin typeface="A2Z 3 Light" pitchFamily="2" charset="-127"/>
                <a:ea typeface="A2Z 3 Light" pitchFamily="2" charset="-127"/>
              </a:rPr>
            </a:br>
            <a:r>
              <a:rPr lang="en-US" altLang="ko-KR" sz="3200" dirty="0">
                <a:latin typeface="A2Z 3 Light" pitchFamily="2" charset="-127"/>
                <a:ea typeface="A2Z 3 Light" pitchFamily="2" charset="-127"/>
              </a:rPr>
              <a:t>3. </a:t>
            </a:r>
            <a:r>
              <a:rPr lang="ko-KR" altLang="en-US" sz="3200" dirty="0">
                <a:latin typeface="A2Z 3 Light" pitchFamily="2" charset="-127"/>
                <a:ea typeface="A2Z 3 Light" pitchFamily="2" charset="-127"/>
              </a:rPr>
              <a:t>연구 목표 </a:t>
            </a:r>
            <a:br>
              <a:rPr lang="en-US" altLang="ko-KR" sz="3200" dirty="0">
                <a:latin typeface="A2Z 3 Light" pitchFamily="2" charset="-127"/>
                <a:ea typeface="A2Z 3 Light" pitchFamily="2" charset="-127"/>
              </a:rPr>
            </a:br>
            <a:r>
              <a:rPr lang="en-US" altLang="ko-KR" sz="3200" dirty="0">
                <a:latin typeface="A2Z 3 Light" pitchFamily="2" charset="-127"/>
                <a:ea typeface="A2Z 3 Light" pitchFamily="2" charset="-127"/>
              </a:rPr>
              <a:t>4. </a:t>
            </a:r>
            <a:r>
              <a:rPr lang="ko-KR" altLang="en-US" sz="3200" dirty="0">
                <a:latin typeface="A2Z 3 Light" pitchFamily="2" charset="-127"/>
                <a:ea typeface="A2Z 3 Light" pitchFamily="2" charset="-127"/>
              </a:rPr>
              <a:t>연구 방법 </a:t>
            </a:r>
            <a:br>
              <a:rPr lang="en-US" altLang="ko-KR" sz="3200" dirty="0"/>
            </a:br>
            <a:endParaRPr lang="en-US" sz="3200" dirty="0">
              <a:latin typeface="gowun"/>
              <a:ea typeface="A2Z 3 Light" pitchFamily="2" charset="-127"/>
            </a:endParaRPr>
          </a:p>
        </p:txBody>
      </p:sp>
      <p:sp>
        <p:nvSpPr>
          <p:cNvPr id="4" name="TextBox 3">
            <a:extLst>
              <a:ext uri="{FF2B5EF4-FFF2-40B4-BE49-F238E27FC236}">
                <a16:creationId xmlns:a16="http://schemas.microsoft.com/office/drawing/2014/main" id="{F9467540-8C42-6E58-5815-4D9B304C24E9}"/>
              </a:ext>
            </a:extLst>
          </p:cNvPr>
          <p:cNvSpPr txBox="1"/>
          <p:nvPr/>
        </p:nvSpPr>
        <p:spPr>
          <a:xfrm>
            <a:off x="6624828" y="1284736"/>
            <a:ext cx="4341114" cy="3876831"/>
          </a:xfrm>
          <a:prstGeom prst="rect">
            <a:avLst/>
          </a:prstGeom>
          <a:noFill/>
        </p:spPr>
        <p:txBody>
          <a:bodyPr wrap="square">
            <a:spAutoFit/>
          </a:bodyPr>
          <a:lstStyle/>
          <a:p>
            <a:pPr>
              <a:lnSpc>
                <a:spcPct val="200000"/>
              </a:lnSpc>
            </a:pPr>
            <a:r>
              <a:rPr lang="en-US" altLang="ko-KR" sz="3200" dirty="0">
                <a:latin typeface="A2Z 3 Light" pitchFamily="2" charset="-127"/>
                <a:ea typeface="A2Z 3 Light" pitchFamily="2" charset="-127"/>
              </a:rPr>
              <a:t>5. </a:t>
            </a:r>
            <a:r>
              <a:rPr lang="ko-KR" altLang="en-US" sz="3200" dirty="0">
                <a:latin typeface="A2Z 3 Light" pitchFamily="2" charset="-127"/>
                <a:ea typeface="A2Z 3 Light" pitchFamily="2" charset="-127"/>
              </a:rPr>
              <a:t>실험 시장 </a:t>
            </a:r>
            <a:br>
              <a:rPr lang="en-US" altLang="ko-KR" sz="3200" dirty="0">
                <a:latin typeface="A2Z 3 Light" pitchFamily="2" charset="-127"/>
                <a:ea typeface="A2Z 3 Light" pitchFamily="2" charset="-127"/>
              </a:rPr>
            </a:br>
            <a:r>
              <a:rPr lang="en-US" altLang="ko-KR" sz="3200" dirty="0">
                <a:latin typeface="A2Z 3 Light" pitchFamily="2" charset="-127"/>
                <a:ea typeface="A2Z 3 Light" pitchFamily="2" charset="-127"/>
              </a:rPr>
              <a:t>6. </a:t>
            </a:r>
            <a:r>
              <a:rPr lang="ko-KR" altLang="en-US" sz="3200" dirty="0">
                <a:latin typeface="A2Z 3 Light" pitchFamily="2" charset="-127"/>
                <a:ea typeface="A2Z 3 Light" pitchFamily="2" charset="-127"/>
              </a:rPr>
              <a:t>평가 방법 </a:t>
            </a:r>
            <a:br>
              <a:rPr lang="en-US" altLang="ko-KR" sz="3200" dirty="0">
                <a:latin typeface="A2Z 3 Light" pitchFamily="2" charset="-127"/>
                <a:ea typeface="A2Z 3 Light" pitchFamily="2" charset="-127"/>
              </a:rPr>
            </a:br>
            <a:r>
              <a:rPr lang="en-US" altLang="ko-KR" sz="3200" dirty="0">
                <a:latin typeface="A2Z 3 Light" pitchFamily="2" charset="-127"/>
                <a:ea typeface="A2Z 3 Light" pitchFamily="2" charset="-127"/>
              </a:rPr>
              <a:t>7. </a:t>
            </a:r>
            <a:r>
              <a:rPr lang="ko-KR" altLang="en-US" sz="3200" dirty="0">
                <a:latin typeface="A2Z 3 Light" pitchFamily="2" charset="-127"/>
                <a:ea typeface="A2Z 3 Light" pitchFamily="2" charset="-127"/>
              </a:rPr>
              <a:t>연구 일정 </a:t>
            </a:r>
            <a:br>
              <a:rPr lang="en-US" altLang="ko-KR" sz="3200" dirty="0">
                <a:latin typeface="A2Z 3 Light" pitchFamily="2" charset="-127"/>
                <a:ea typeface="A2Z 3 Light" pitchFamily="2" charset="-127"/>
              </a:rPr>
            </a:br>
            <a:r>
              <a:rPr lang="en-US" altLang="ko-KR" sz="3200" dirty="0">
                <a:latin typeface="A2Z 3 Light" pitchFamily="2" charset="-127"/>
                <a:ea typeface="A2Z 3 Light" pitchFamily="2" charset="-127"/>
              </a:rPr>
              <a:t>8. </a:t>
            </a:r>
            <a:r>
              <a:rPr lang="ko-KR" altLang="en-US" sz="3200" dirty="0">
                <a:latin typeface="A2Z 3 Light" pitchFamily="2" charset="-127"/>
                <a:ea typeface="A2Z 3 Light" pitchFamily="2" charset="-127"/>
              </a:rPr>
              <a:t>기대 결과</a:t>
            </a:r>
            <a:endParaRPr lang="en-US" sz="3200" dirty="0">
              <a:latin typeface="A2Z 3 Light" pitchFamily="2" charset="-127"/>
              <a:ea typeface="A2Z 3 Light" pitchFamily="2" charset="-127"/>
            </a:endParaRPr>
          </a:p>
        </p:txBody>
      </p:sp>
    </p:spTree>
    <p:extLst>
      <p:ext uri="{BB962C8B-B14F-4D97-AF65-F5344CB8AC3E}">
        <p14:creationId xmlns:p14="http://schemas.microsoft.com/office/powerpoint/2010/main" val="1245527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BBBBC-2A19-D08D-8E5A-1EFA4AF447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B869C0-2F62-4F13-CFC2-283F7B01C935}"/>
              </a:ext>
            </a:extLst>
          </p:cNvPr>
          <p:cNvSpPr>
            <a:spLocks noGrp="1"/>
          </p:cNvSpPr>
          <p:nvPr>
            <p:ph type="ctrTitle"/>
          </p:nvPr>
        </p:nvSpPr>
        <p:spPr>
          <a:xfrm>
            <a:off x="918972" y="2002537"/>
            <a:ext cx="10354056" cy="3621024"/>
          </a:xfrm>
        </p:spPr>
        <p:txBody>
          <a:bodyPr>
            <a:noAutofit/>
          </a:bodyPr>
          <a:lstStyle/>
          <a:p>
            <a:pPr algn="l"/>
            <a:r>
              <a:rPr lang="en-US" altLang="ko-KR" sz="3200" b="1" dirty="0">
                <a:latin typeface="A2Z 3 Light" pitchFamily="2" charset="-127"/>
                <a:ea typeface="A2Z 3 Light" pitchFamily="2" charset="-127"/>
              </a:rPr>
              <a:t>“</a:t>
            </a:r>
            <a:r>
              <a:rPr lang="ko-KR" altLang="en-US" sz="3200" b="1" dirty="0">
                <a:latin typeface="A2Z 3 Light" pitchFamily="2" charset="-127"/>
                <a:ea typeface="A2Z 3 Light" pitchFamily="2" charset="-127"/>
              </a:rPr>
              <a:t>자동화 투자 전략</a:t>
            </a:r>
            <a:r>
              <a:rPr lang="en-US" altLang="ko-KR" sz="3200" b="1" dirty="0">
                <a:latin typeface="A2Z 3 Light" pitchFamily="2" charset="-127"/>
                <a:ea typeface="A2Z 3 Light" pitchFamily="2" charset="-127"/>
              </a:rPr>
              <a:t>”</a:t>
            </a:r>
            <a:br>
              <a:rPr lang="en-US" altLang="ko-KR" sz="3200" b="1" dirty="0">
                <a:latin typeface="A2Z 3 Light" pitchFamily="2" charset="-127"/>
                <a:ea typeface="A2Z 3 Light" pitchFamily="2" charset="-127"/>
              </a:rPr>
            </a:br>
            <a:br>
              <a:rPr lang="en-US" altLang="ko-KR" sz="3200" b="1" dirty="0">
                <a:latin typeface="A2Z 3 Light" pitchFamily="2" charset="-127"/>
                <a:ea typeface="A2Z 3 Light" pitchFamily="2" charset="-127"/>
              </a:rPr>
            </a:br>
            <a:br>
              <a:rPr lang="en-US" altLang="ko-KR" sz="3200" b="1" dirty="0">
                <a:latin typeface="A2Z 3 Light" pitchFamily="2" charset="-127"/>
                <a:ea typeface="A2Z 3 Light" pitchFamily="2" charset="-127"/>
              </a:rPr>
            </a:br>
            <a:r>
              <a:rPr lang="ko-KR" altLang="en-US" sz="3200" dirty="0">
                <a:latin typeface="A2Z 3 Light" pitchFamily="2" charset="-127"/>
                <a:ea typeface="A2Z 3 Light" pitchFamily="2" charset="-127"/>
              </a:rPr>
              <a:t>대표적인 분할 투자 방식 </a:t>
            </a:r>
            <a:r>
              <a:rPr lang="en-US" altLang="ko-KR" sz="3200" dirty="0">
                <a:latin typeface="A2Z 3 Light" pitchFamily="2" charset="-127"/>
                <a:ea typeface="A2Z 3 Light" pitchFamily="2" charset="-127"/>
              </a:rPr>
              <a:t>: </a:t>
            </a:r>
            <a:br>
              <a:rPr lang="en-US" altLang="ko-KR" sz="3200" dirty="0">
                <a:latin typeface="A2Z 3 Light" pitchFamily="2" charset="-127"/>
                <a:ea typeface="A2Z 3 Light" pitchFamily="2" charset="-127"/>
              </a:rPr>
            </a:br>
            <a:br>
              <a:rPr lang="en-US" altLang="ko-KR" sz="3200" dirty="0">
                <a:latin typeface="A2Z 3 Light" pitchFamily="2" charset="-127"/>
                <a:ea typeface="A2Z 3 Light" pitchFamily="2" charset="-127"/>
              </a:rPr>
            </a:br>
            <a:r>
              <a:rPr lang="ko-KR" altLang="en-US" sz="3200" dirty="0">
                <a:latin typeface="A2Z 3 Light" pitchFamily="2" charset="-127"/>
                <a:ea typeface="A2Z 3 Light" pitchFamily="2" charset="-127"/>
              </a:rPr>
              <a:t>정액 분할매수 </a:t>
            </a:r>
            <a:r>
              <a:rPr lang="en-US" altLang="ko-KR" sz="3200" dirty="0">
                <a:latin typeface="A2Z 3 Light" pitchFamily="2" charset="-127"/>
                <a:ea typeface="A2Z 3 Light" pitchFamily="2" charset="-127"/>
              </a:rPr>
              <a:t>(Dollar Cost Averaging)</a:t>
            </a:r>
            <a:br>
              <a:rPr lang="en-US" altLang="ko-KR" sz="3200" dirty="0">
                <a:latin typeface="A2Z 3 Light" pitchFamily="2" charset="-127"/>
                <a:ea typeface="A2Z 3 Light" pitchFamily="2" charset="-127"/>
              </a:rPr>
            </a:br>
            <a:endParaRPr lang="en-US" sz="3200" u="sng" dirty="0">
              <a:latin typeface="A2Z 3 Light" pitchFamily="2" charset="-127"/>
              <a:ea typeface="A2Z 3 Light" pitchFamily="2" charset="-127"/>
            </a:endParaRPr>
          </a:p>
        </p:txBody>
      </p:sp>
      <p:sp>
        <p:nvSpPr>
          <p:cNvPr id="10" name="TextBox 9">
            <a:extLst>
              <a:ext uri="{FF2B5EF4-FFF2-40B4-BE49-F238E27FC236}">
                <a16:creationId xmlns:a16="http://schemas.microsoft.com/office/drawing/2014/main" id="{34BDBFB0-1CF0-97CD-04A5-AADEB615C555}"/>
              </a:ext>
            </a:extLst>
          </p:cNvPr>
          <p:cNvSpPr txBox="1"/>
          <p:nvPr/>
        </p:nvSpPr>
        <p:spPr>
          <a:xfrm>
            <a:off x="923544" y="676656"/>
            <a:ext cx="4105656" cy="584775"/>
          </a:xfrm>
          <a:prstGeom prst="rect">
            <a:avLst/>
          </a:prstGeom>
          <a:noFill/>
        </p:spPr>
        <p:txBody>
          <a:bodyPr wrap="square" rtlCol="0">
            <a:spAutoFit/>
          </a:bodyPr>
          <a:lstStyle/>
          <a:p>
            <a:r>
              <a:rPr lang="en-US" altLang="ko-KR" sz="3200" b="1" dirty="0">
                <a:latin typeface="A2Z 6 SemiBold" pitchFamily="2" charset="-127"/>
                <a:ea typeface="A2Z 6 SemiBold" pitchFamily="2" charset="-127"/>
              </a:rPr>
              <a:t>1. </a:t>
            </a:r>
            <a:r>
              <a:rPr lang="ko-KR" altLang="en-US" sz="3200" b="1" dirty="0">
                <a:latin typeface="A2Z 6 SemiBold" pitchFamily="2" charset="-127"/>
                <a:ea typeface="A2Z 6 SemiBold" pitchFamily="2" charset="-127"/>
              </a:rPr>
              <a:t>연구 배경</a:t>
            </a:r>
            <a:endParaRPr lang="en-US" sz="3200" dirty="0">
              <a:latin typeface="A2Z 6 SemiBold" pitchFamily="2" charset="-127"/>
              <a:ea typeface="A2Z 6 SemiBold" pitchFamily="2" charset="-127"/>
            </a:endParaRPr>
          </a:p>
        </p:txBody>
      </p:sp>
    </p:spTree>
    <p:extLst>
      <p:ext uri="{BB962C8B-B14F-4D97-AF65-F5344CB8AC3E}">
        <p14:creationId xmlns:p14="http://schemas.microsoft.com/office/powerpoint/2010/main" val="629641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2B920-C5F0-DA9F-9BF7-2AE81FAAA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73D6F8-AF84-50C4-0BAA-25726F796356}"/>
              </a:ext>
            </a:extLst>
          </p:cNvPr>
          <p:cNvSpPr>
            <a:spLocks noGrp="1"/>
          </p:cNvSpPr>
          <p:nvPr>
            <p:ph type="ctrTitle"/>
          </p:nvPr>
        </p:nvSpPr>
        <p:spPr>
          <a:xfrm>
            <a:off x="918972" y="1545336"/>
            <a:ext cx="10354056" cy="4443983"/>
          </a:xfrm>
        </p:spPr>
        <p:txBody>
          <a:bodyPr>
            <a:noAutofit/>
          </a:bodyPr>
          <a:lstStyle/>
          <a:p>
            <a:pPr algn="l">
              <a:lnSpc>
                <a:spcPct val="150000"/>
              </a:lnSpc>
            </a:pPr>
            <a:r>
              <a:rPr lang="ko-KR" altLang="en-US" sz="3200" dirty="0">
                <a:latin typeface="A2Z 3 Light" pitchFamily="2" charset="-127"/>
                <a:ea typeface="A2Z 3 Light" pitchFamily="2" charset="-127"/>
              </a:rPr>
              <a:t>기존 전략의 한계</a:t>
            </a:r>
            <a:br>
              <a:rPr lang="en-US" altLang="ko-KR" sz="3200" dirty="0">
                <a:latin typeface="A2Z 3 Light" pitchFamily="2" charset="-127"/>
                <a:ea typeface="A2Z 3 Light" pitchFamily="2" charset="-127"/>
              </a:rPr>
            </a:br>
            <a:r>
              <a:rPr lang="en-US" altLang="ko-KR" sz="3200" dirty="0">
                <a:latin typeface="A2Z 3 Light" pitchFamily="2" charset="-127"/>
                <a:ea typeface="A2Z 3 Light" pitchFamily="2" charset="-127"/>
              </a:rPr>
              <a:t>- </a:t>
            </a:r>
            <a:r>
              <a:rPr lang="ko-KR" altLang="en-US" sz="3200" dirty="0">
                <a:latin typeface="A2Z 3 Light" pitchFamily="2" charset="-127"/>
                <a:ea typeface="A2Z 3 Light" pitchFamily="2" charset="-127"/>
              </a:rPr>
              <a:t>매수 전략이 단순히 </a:t>
            </a:r>
            <a:r>
              <a:rPr lang="ko-KR" altLang="en-US" sz="3200" b="1" dirty="0">
                <a:latin typeface="A2Z 3 Light" pitchFamily="2" charset="-127"/>
                <a:ea typeface="A2Z 3 Light" pitchFamily="2" charset="-127"/>
              </a:rPr>
              <a:t>고정된 시간 기준뿐임</a:t>
            </a:r>
            <a:br>
              <a:rPr lang="ko-KR" altLang="en-US" sz="3200" dirty="0">
                <a:latin typeface="A2Z 3 Light" pitchFamily="2" charset="-127"/>
                <a:ea typeface="A2Z 3 Light" pitchFamily="2" charset="-127"/>
              </a:rPr>
            </a:br>
            <a:r>
              <a:rPr lang="en-US" altLang="ko-KR" sz="3200" dirty="0">
                <a:latin typeface="A2Z 3 Light" pitchFamily="2" charset="-127"/>
                <a:ea typeface="A2Z 3 Light" pitchFamily="2" charset="-127"/>
              </a:rPr>
              <a:t>- </a:t>
            </a:r>
            <a:r>
              <a:rPr lang="ko-KR" altLang="en-US" sz="3200" b="1" dirty="0">
                <a:latin typeface="A2Z 3 Light" pitchFamily="2" charset="-127"/>
                <a:ea typeface="A2Z 3 Light" pitchFamily="2" charset="-127"/>
              </a:rPr>
              <a:t>매도 전략이 명확하지 않음</a:t>
            </a:r>
            <a:br>
              <a:rPr lang="ko-KR" altLang="en-US" sz="3200" dirty="0">
                <a:latin typeface="A2Z 3 Light" pitchFamily="2" charset="-127"/>
                <a:ea typeface="A2Z 3 Light" pitchFamily="2" charset="-127"/>
              </a:rPr>
            </a:br>
            <a:r>
              <a:rPr lang="en-US" altLang="ko-KR" sz="3200" dirty="0">
                <a:latin typeface="A2Z 3 Light" pitchFamily="2" charset="-127"/>
                <a:ea typeface="A2Z 3 Light" pitchFamily="2" charset="-127"/>
              </a:rPr>
              <a:t>- </a:t>
            </a:r>
            <a:r>
              <a:rPr lang="ko-KR" altLang="en-US" sz="3200" dirty="0">
                <a:latin typeface="A2Z 3 Light" pitchFamily="2" charset="-127"/>
                <a:ea typeface="A2Z 3 Light" pitchFamily="2" charset="-127"/>
              </a:rPr>
              <a:t>자산별 </a:t>
            </a:r>
            <a:r>
              <a:rPr lang="ko-KR" altLang="en-US" sz="3200" b="1" dirty="0">
                <a:latin typeface="A2Z 3 Light" pitchFamily="2" charset="-127"/>
                <a:ea typeface="A2Z 3 Light" pitchFamily="2" charset="-127"/>
              </a:rPr>
              <a:t>변동성 차이를 반영하지 못함</a:t>
            </a:r>
            <a:br>
              <a:rPr lang="ko-KR" altLang="en-US" sz="3200" dirty="0">
                <a:latin typeface="A2Z 3 Light" pitchFamily="2" charset="-127"/>
                <a:ea typeface="A2Z 3 Light" pitchFamily="2" charset="-127"/>
              </a:rPr>
            </a:br>
            <a:br>
              <a:rPr lang="en-US" altLang="ko-KR" sz="3200" dirty="0">
                <a:latin typeface="A2Z 3 Light" pitchFamily="2" charset="-127"/>
                <a:ea typeface="A2Z 3 Light" pitchFamily="2" charset="-127"/>
              </a:rPr>
            </a:br>
            <a:r>
              <a:rPr lang="ko-KR" altLang="en-US" sz="3200" dirty="0">
                <a:latin typeface="A2Z 3 Light" pitchFamily="2" charset="-127"/>
                <a:ea typeface="A2Z 3 Light" pitchFamily="2" charset="-127"/>
              </a:rPr>
              <a:t>따라서 </a:t>
            </a:r>
            <a:r>
              <a:rPr lang="ko-KR" altLang="en-US" sz="3200" b="1" dirty="0">
                <a:latin typeface="A2Z 3 Light" pitchFamily="2" charset="-127"/>
                <a:ea typeface="A2Z 3 Light" pitchFamily="2" charset="-127"/>
              </a:rPr>
              <a:t>변동성을 반영한 분할매매 전략 설계</a:t>
            </a:r>
            <a:r>
              <a:rPr lang="ko-KR" altLang="en-US" sz="3200" dirty="0">
                <a:latin typeface="A2Z 3 Light" pitchFamily="2" charset="-127"/>
                <a:ea typeface="A2Z 3 Light" pitchFamily="2" charset="-127"/>
              </a:rPr>
              <a:t>가 필요하다</a:t>
            </a:r>
            <a:r>
              <a:rPr lang="en-US" altLang="ko-KR" sz="3200" dirty="0">
                <a:latin typeface="A2Z 3 Light" pitchFamily="2" charset="-127"/>
                <a:ea typeface="A2Z 3 Light" pitchFamily="2" charset="-127"/>
              </a:rPr>
              <a:t>.</a:t>
            </a:r>
            <a:endParaRPr lang="en-US" sz="3200" u="sng" dirty="0">
              <a:latin typeface="A2Z 3 Light" pitchFamily="2" charset="-127"/>
              <a:ea typeface="A2Z 3 Light" pitchFamily="2" charset="-127"/>
            </a:endParaRPr>
          </a:p>
        </p:txBody>
      </p:sp>
      <p:sp>
        <p:nvSpPr>
          <p:cNvPr id="10" name="TextBox 9">
            <a:extLst>
              <a:ext uri="{FF2B5EF4-FFF2-40B4-BE49-F238E27FC236}">
                <a16:creationId xmlns:a16="http://schemas.microsoft.com/office/drawing/2014/main" id="{FF577C55-012D-1122-7DB3-D75DA19A8080}"/>
              </a:ext>
            </a:extLst>
          </p:cNvPr>
          <p:cNvSpPr txBox="1"/>
          <p:nvPr/>
        </p:nvSpPr>
        <p:spPr>
          <a:xfrm>
            <a:off x="923544" y="676656"/>
            <a:ext cx="4105656" cy="584775"/>
          </a:xfrm>
          <a:prstGeom prst="rect">
            <a:avLst/>
          </a:prstGeom>
          <a:noFill/>
        </p:spPr>
        <p:txBody>
          <a:bodyPr wrap="square" rtlCol="0">
            <a:spAutoFit/>
          </a:bodyPr>
          <a:lstStyle/>
          <a:p>
            <a:r>
              <a:rPr lang="en-US" altLang="ko-KR" sz="3200" b="1" dirty="0">
                <a:latin typeface="A2Z 6 SemiBold" pitchFamily="2" charset="-127"/>
                <a:ea typeface="A2Z 6 SemiBold" pitchFamily="2" charset="-127"/>
              </a:rPr>
              <a:t>1. </a:t>
            </a:r>
            <a:r>
              <a:rPr lang="ko-KR" altLang="en-US" sz="3200" b="1" dirty="0">
                <a:latin typeface="A2Z 6 SemiBold" pitchFamily="2" charset="-127"/>
                <a:ea typeface="A2Z 6 SemiBold" pitchFamily="2" charset="-127"/>
              </a:rPr>
              <a:t>연구 배경 </a:t>
            </a:r>
            <a:r>
              <a:rPr lang="en-US" altLang="ko-KR" sz="3200" b="1" dirty="0">
                <a:latin typeface="A2Z 6 SemiBold" pitchFamily="2" charset="-127"/>
                <a:ea typeface="A2Z 6 SemiBold" pitchFamily="2" charset="-127"/>
              </a:rPr>
              <a:t>(cont.)</a:t>
            </a:r>
            <a:endParaRPr lang="en-US" sz="3200" dirty="0">
              <a:latin typeface="A2Z 6 SemiBold" pitchFamily="2" charset="-127"/>
              <a:ea typeface="A2Z 6 SemiBold" pitchFamily="2" charset="-127"/>
            </a:endParaRPr>
          </a:p>
        </p:txBody>
      </p:sp>
    </p:spTree>
    <p:extLst>
      <p:ext uri="{BB962C8B-B14F-4D97-AF65-F5344CB8AC3E}">
        <p14:creationId xmlns:p14="http://schemas.microsoft.com/office/powerpoint/2010/main" val="519660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A2C14-0FD7-D1BC-7C96-FE26475BA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29CD6-6C34-FD6C-44EC-6D63957640E0}"/>
              </a:ext>
            </a:extLst>
          </p:cNvPr>
          <p:cNvSpPr>
            <a:spLocks noGrp="1"/>
          </p:cNvSpPr>
          <p:nvPr>
            <p:ph type="ctrTitle"/>
          </p:nvPr>
        </p:nvSpPr>
        <p:spPr>
          <a:xfrm>
            <a:off x="918972" y="1545336"/>
            <a:ext cx="10354056" cy="4443983"/>
          </a:xfrm>
        </p:spPr>
        <p:txBody>
          <a:bodyPr>
            <a:noAutofit/>
          </a:bodyPr>
          <a:lstStyle/>
          <a:p>
            <a:pPr algn="l">
              <a:lnSpc>
                <a:spcPct val="100000"/>
              </a:lnSpc>
            </a:pPr>
            <a:r>
              <a:rPr lang="en-US" altLang="ko-KR" sz="3200" dirty="0">
                <a:latin typeface="A2Z 3 Light" pitchFamily="2" charset="-127"/>
                <a:ea typeface="A2Z 3 Light" pitchFamily="2" charset="-127"/>
              </a:rPr>
              <a:t>“</a:t>
            </a:r>
            <a:r>
              <a:rPr lang="ko-KR" altLang="en-US" sz="3200" dirty="0">
                <a:latin typeface="A2Z 3 Light" pitchFamily="2" charset="-127"/>
                <a:ea typeface="A2Z 3 Light" pitchFamily="2" charset="-127"/>
              </a:rPr>
              <a:t>기존 분할매매 전략의 한계</a:t>
            </a:r>
            <a:r>
              <a:rPr lang="en-US" altLang="ko-KR" sz="3200" dirty="0">
                <a:latin typeface="A2Z 3 Light" pitchFamily="2" charset="-127"/>
                <a:ea typeface="A2Z 3 Light" pitchFamily="2" charset="-127"/>
              </a:rPr>
              <a:t>” (prev.</a:t>
            </a:r>
            <a:r>
              <a:rPr lang="ko-KR" altLang="en-US" sz="3200" dirty="0">
                <a:latin typeface="A2Z 3 Light" pitchFamily="2" charset="-127"/>
                <a:ea typeface="A2Z 3 Light" pitchFamily="2" charset="-127"/>
              </a:rPr>
              <a:t> </a:t>
            </a:r>
            <a:r>
              <a:rPr lang="en-US" altLang="ko-KR" sz="3200" dirty="0">
                <a:latin typeface="A2Z 3 Light" pitchFamily="2" charset="-127"/>
                <a:ea typeface="A2Z 3 Light" pitchFamily="2" charset="-127"/>
              </a:rPr>
              <a:t>slide)</a:t>
            </a:r>
            <a:br>
              <a:rPr lang="en-US" altLang="ko-KR" sz="3200" dirty="0">
                <a:latin typeface="A2Z 3 Light" pitchFamily="2" charset="-127"/>
                <a:ea typeface="A2Z 3 Light" pitchFamily="2" charset="-127"/>
              </a:rPr>
            </a:br>
            <a:br>
              <a:rPr lang="en-US" altLang="ko-KR" sz="3200" dirty="0">
                <a:latin typeface="A2Z 3 Light" pitchFamily="2" charset="-127"/>
                <a:ea typeface="A2Z 3 Light" pitchFamily="2" charset="-127"/>
              </a:rPr>
            </a:br>
            <a:r>
              <a:rPr lang="ko-KR" altLang="en-US" sz="3200" dirty="0">
                <a:latin typeface="A2Z 3 Light" pitchFamily="2" charset="-127"/>
                <a:ea typeface="A2Z 3 Light" pitchFamily="2" charset="-127"/>
              </a:rPr>
              <a:t>따라서 본 연구에서는</a:t>
            </a:r>
            <a:br>
              <a:rPr lang="en-US" altLang="ko-KR" sz="3200" dirty="0">
                <a:latin typeface="A2Z 3 Light" pitchFamily="2" charset="-127"/>
                <a:ea typeface="A2Z 3 Light" pitchFamily="2" charset="-127"/>
              </a:rPr>
            </a:br>
            <a:br>
              <a:rPr lang="ko-KR" altLang="en-US" sz="3200" dirty="0">
                <a:latin typeface="A2Z 3 Light" pitchFamily="2" charset="-127"/>
                <a:ea typeface="A2Z 3 Light" pitchFamily="2" charset="-127"/>
              </a:rPr>
            </a:br>
            <a:r>
              <a:rPr lang="ko-KR" altLang="en-US" sz="3200" dirty="0">
                <a:latin typeface="A2Z 3 Light" pitchFamily="2" charset="-127"/>
                <a:ea typeface="A2Z 3 Light" pitchFamily="2" charset="-127"/>
              </a:rPr>
              <a:t>각 </a:t>
            </a:r>
            <a:r>
              <a:rPr lang="ko-KR" altLang="en-US" sz="3200" b="1" dirty="0">
                <a:latin typeface="A2Z 3 Light" pitchFamily="2" charset="-127"/>
                <a:ea typeface="A2Z 3 Light" pitchFamily="2" charset="-127"/>
              </a:rPr>
              <a:t>자산 시장의 평균 변동성을 기반으로</a:t>
            </a:r>
            <a:r>
              <a:rPr lang="en-US" altLang="ko-KR" sz="3200" b="1" dirty="0">
                <a:latin typeface="A2Z 3 Light" pitchFamily="2" charset="-127"/>
                <a:ea typeface="A2Z 3 Light" pitchFamily="2" charset="-127"/>
              </a:rPr>
              <a:t> </a:t>
            </a:r>
            <a:r>
              <a:rPr lang="ko-KR" altLang="en-US" sz="3200" b="1" dirty="0">
                <a:latin typeface="A2Z 3 Light" pitchFamily="2" charset="-127"/>
                <a:ea typeface="A2Z 3 Light" pitchFamily="2" charset="-127"/>
              </a:rPr>
              <a:t>매수</a:t>
            </a:r>
            <a:r>
              <a:rPr lang="en-US" altLang="ko-KR" sz="3200" b="1" dirty="0">
                <a:latin typeface="A2Z 3 Light" pitchFamily="2" charset="-127"/>
                <a:ea typeface="A2Z 3 Light" pitchFamily="2" charset="-127"/>
              </a:rPr>
              <a:t>·</a:t>
            </a:r>
            <a:r>
              <a:rPr lang="ko-KR" altLang="en-US" sz="3200" b="1" dirty="0">
                <a:latin typeface="A2Z 3 Light" pitchFamily="2" charset="-127"/>
                <a:ea typeface="A2Z 3 Light" pitchFamily="2" charset="-127"/>
              </a:rPr>
              <a:t>매도 가격을 설정하고</a:t>
            </a:r>
            <a:r>
              <a:rPr lang="en-US" altLang="ko-KR" sz="3200" b="1" dirty="0">
                <a:latin typeface="A2Z 3 Light" pitchFamily="2" charset="-127"/>
                <a:ea typeface="A2Z 3 Light" pitchFamily="2" charset="-127"/>
              </a:rPr>
              <a:t>, </a:t>
            </a:r>
            <a:r>
              <a:rPr lang="ko-KR" altLang="en-US" sz="3200" b="1" dirty="0">
                <a:latin typeface="A2Z 3 Light" pitchFamily="2" charset="-127"/>
                <a:ea typeface="A2Z 3 Light" pitchFamily="2" charset="-127"/>
              </a:rPr>
              <a:t>일정 시간마다 매매 여부를 판단하는</a:t>
            </a:r>
            <a:br>
              <a:rPr lang="en-US" altLang="ko-KR" sz="3200" b="1" dirty="0">
                <a:latin typeface="A2Z 3 Light" pitchFamily="2" charset="-127"/>
                <a:ea typeface="A2Z 3 Light" pitchFamily="2" charset="-127"/>
              </a:rPr>
            </a:br>
            <a:br>
              <a:rPr lang="en-US" altLang="ko-KR" sz="3200" b="1" dirty="0">
                <a:latin typeface="A2Z 3 Light" pitchFamily="2" charset="-127"/>
                <a:ea typeface="A2Z 3 Light" pitchFamily="2" charset="-127"/>
              </a:rPr>
            </a:br>
            <a:r>
              <a:rPr lang="en-US" altLang="ko-KR" sz="3200" b="1" dirty="0">
                <a:latin typeface="A2Z 3 Light" pitchFamily="2" charset="-127"/>
                <a:ea typeface="A2Z 3 Light" pitchFamily="2" charset="-127"/>
              </a:rPr>
              <a:t>“</a:t>
            </a:r>
            <a:r>
              <a:rPr lang="ko-KR" altLang="en-US" sz="3200" b="1" dirty="0">
                <a:latin typeface="A2Z 3 Light" pitchFamily="2" charset="-127"/>
                <a:ea typeface="A2Z 3 Light" pitchFamily="2" charset="-127"/>
              </a:rPr>
              <a:t>정액 분할매매 전략</a:t>
            </a:r>
            <a:r>
              <a:rPr lang="en-US" altLang="ko-KR" sz="3200" b="1" dirty="0">
                <a:latin typeface="A2Z 3 Light" pitchFamily="2" charset="-127"/>
                <a:ea typeface="A2Z 3 Light" pitchFamily="2" charset="-127"/>
              </a:rPr>
              <a:t>”</a:t>
            </a:r>
            <a:r>
              <a:rPr lang="ko-KR" altLang="en-US" sz="3200" b="1" dirty="0">
                <a:latin typeface="A2Z 3 Light" pitchFamily="2" charset="-127"/>
                <a:ea typeface="A2Z 3 Light" pitchFamily="2" charset="-127"/>
              </a:rPr>
              <a:t>을 설계하고 </a:t>
            </a:r>
            <a:br>
              <a:rPr lang="en-US" altLang="ko-KR" sz="3200" b="1" dirty="0">
                <a:latin typeface="A2Z 3 Light" pitchFamily="2" charset="-127"/>
                <a:ea typeface="A2Z 3 Light" pitchFamily="2" charset="-127"/>
              </a:rPr>
            </a:br>
            <a:r>
              <a:rPr lang="ko-KR" altLang="en-US" sz="3200" b="1" dirty="0">
                <a:latin typeface="A2Z 3 Light" pitchFamily="2" charset="-127"/>
                <a:ea typeface="A2Z 3 Light" pitchFamily="2" charset="-127"/>
              </a:rPr>
              <a:t>다양한 금융 시장에서 성능을 검증한다</a:t>
            </a:r>
            <a:r>
              <a:rPr lang="en-US" altLang="ko-KR" sz="3200" b="1" dirty="0">
                <a:latin typeface="A2Z 3 Light" pitchFamily="2" charset="-127"/>
                <a:ea typeface="A2Z 3 Light" pitchFamily="2" charset="-127"/>
              </a:rPr>
              <a:t>.</a:t>
            </a:r>
            <a:endParaRPr lang="en-US" sz="3200" u="sng" dirty="0">
              <a:latin typeface="A2Z 3 Light" pitchFamily="2" charset="-127"/>
              <a:ea typeface="A2Z 3 Light" pitchFamily="2" charset="-127"/>
            </a:endParaRPr>
          </a:p>
        </p:txBody>
      </p:sp>
      <p:sp>
        <p:nvSpPr>
          <p:cNvPr id="10" name="TextBox 9">
            <a:extLst>
              <a:ext uri="{FF2B5EF4-FFF2-40B4-BE49-F238E27FC236}">
                <a16:creationId xmlns:a16="http://schemas.microsoft.com/office/drawing/2014/main" id="{7C89E5AB-03BB-BCCD-93FA-239EDDB52614}"/>
              </a:ext>
            </a:extLst>
          </p:cNvPr>
          <p:cNvSpPr txBox="1"/>
          <p:nvPr/>
        </p:nvSpPr>
        <p:spPr>
          <a:xfrm>
            <a:off x="923544" y="676656"/>
            <a:ext cx="4105656" cy="584775"/>
          </a:xfrm>
          <a:prstGeom prst="rect">
            <a:avLst/>
          </a:prstGeom>
          <a:noFill/>
        </p:spPr>
        <p:txBody>
          <a:bodyPr wrap="square" rtlCol="0">
            <a:spAutoFit/>
          </a:bodyPr>
          <a:lstStyle/>
          <a:p>
            <a:r>
              <a:rPr lang="en-US" altLang="ko-KR" sz="3200" b="1" dirty="0">
                <a:latin typeface="A2Z 6 SemiBold" pitchFamily="2" charset="-127"/>
                <a:ea typeface="A2Z 6 SemiBold" pitchFamily="2" charset="-127"/>
              </a:rPr>
              <a:t>2. </a:t>
            </a:r>
            <a:r>
              <a:rPr lang="ko-KR" altLang="en-US" sz="3200" b="1" dirty="0">
                <a:latin typeface="A2Z 6 SemiBold" pitchFamily="2" charset="-127"/>
                <a:ea typeface="A2Z 6 SemiBold" pitchFamily="2" charset="-127"/>
              </a:rPr>
              <a:t>문제 정의</a:t>
            </a:r>
            <a:endParaRPr lang="en-US" sz="3200" dirty="0">
              <a:latin typeface="A2Z 6 SemiBold" pitchFamily="2" charset="-127"/>
              <a:ea typeface="A2Z 6 SemiBold" pitchFamily="2" charset="-127"/>
            </a:endParaRPr>
          </a:p>
        </p:txBody>
      </p:sp>
    </p:spTree>
    <p:extLst>
      <p:ext uri="{BB962C8B-B14F-4D97-AF65-F5344CB8AC3E}">
        <p14:creationId xmlns:p14="http://schemas.microsoft.com/office/powerpoint/2010/main" val="442928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7E62D-234C-BACB-2D8A-7ACDFD520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13098-7B45-A2E2-FD96-6866A36A0C42}"/>
              </a:ext>
            </a:extLst>
          </p:cNvPr>
          <p:cNvSpPr>
            <a:spLocks noGrp="1"/>
          </p:cNvSpPr>
          <p:nvPr>
            <p:ph type="ctrTitle"/>
          </p:nvPr>
        </p:nvSpPr>
        <p:spPr>
          <a:xfrm>
            <a:off x="918972" y="1700784"/>
            <a:ext cx="10354056" cy="4443983"/>
          </a:xfrm>
        </p:spPr>
        <p:txBody>
          <a:bodyPr>
            <a:noAutofit/>
          </a:bodyPr>
          <a:lstStyle/>
          <a:p>
            <a:pPr algn="l">
              <a:lnSpc>
                <a:spcPct val="150000"/>
              </a:lnSpc>
            </a:pPr>
            <a:r>
              <a:rPr lang="en-US" altLang="ko-KR" sz="3200" dirty="0">
                <a:latin typeface="A2Z 3 Light" pitchFamily="2" charset="-127"/>
                <a:ea typeface="A2Z 3 Light" pitchFamily="2" charset="-127"/>
              </a:rPr>
              <a:t>1. </a:t>
            </a:r>
            <a:r>
              <a:rPr lang="ko-KR" altLang="en-US" sz="3200" dirty="0">
                <a:latin typeface="A2Z 3 Light" pitchFamily="2" charset="-127"/>
                <a:ea typeface="A2Z 3 Light" pitchFamily="2" charset="-127"/>
              </a:rPr>
              <a:t>주식 시장에서 전략 개발 및 파라미터 탐색</a:t>
            </a:r>
            <a:br>
              <a:rPr lang="en-US" altLang="ko-KR" sz="3200" dirty="0">
                <a:latin typeface="A2Z 3 Light" pitchFamily="2" charset="-127"/>
                <a:ea typeface="A2Z 3 Light" pitchFamily="2" charset="-127"/>
              </a:rPr>
            </a:br>
            <a:r>
              <a:rPr lang="en-US" altLang="ko-KR" sz="2400" dirty="0">
                <a:latin typeface="A2Z 3 Light" pitchFamily="2" charset="-127"/>
                <a:ea typeface="A2Z 3 Light" pitchFamily="2" charset="-127"/>
              </a:rPr>
              <a:t>     (</a:t>
            </a:r>
            <a:r>
              <a:rPr lang="ko-KR" altLang="en-US" sz="2400" dirty="0">
                <a:latin typeface="A2Z 3 Light" pitchFamily="2" charset="-127"/>
                <a:ea typeface="A2Z 3 Light" pitchFamily="2" charset="-127"/>
              </a:rPr>
              <a:t>변동성을 활용한 </a:t>
            </a:r>
            <a:r>
              <a:rPr lang="ko-KR" altLang="en-US" sz="2400" b="1" dirty="0">
                <a:latin typeface="A2Z 3 Light" pitchFamily="2" charset="-127"/>
                <a:ea typeface="A2Z 3 Light" pitchFamily="2" charset="-127"/>
              </a:rPr>
              <a:t>정액 분할매매 전략 설계</a:t>
            </a:r>
            <a:r>
              <a:rPr lang="en-US" altLang="ko-KR" sz="2400" b="1" dirty="0">
                <a:latin typeface="A2Z 3 Light" pitchFamily="2" charset="-127"/>
                <a:ea typeface="A2Z 3 Light" pitchFamily="2" charset="-127"/>
              </a:rPr>
              <a:t>)</a:t>
            </a:r>
            <a:br>
              <a:rPr lang="ko-KR" altLang="en-US" sz="3200" dirty="0">
                <a:latin typeface="A2Z 3 Light" pitchFamily="2" charset="-127"/>
                <a:ea typeface="A2Z 3 Light" pitchFamily="2" charset="-127"/>
              </a:rPr>
            </a:br>
            <a:r>
              <a:rPr lang="en-US" altLang="ko-KR" sz="3200" dirty="0">
                <a:latin typeface="A2Z 3 Light" pitchFamily="2" charset="-127"/>
                <a:ea typeface="A2Z 3 Light" pitchFamily="2" charset="-127"/>
              </a:rPr>
              <a:t>2. </a:t>
            </a:r>
            <a:r>
              <a:rPr lang="ko-KR" altLang="en-US" sz="3200" dirty="0">
                <a:latin typeface="A2Z 3 Light" pitchFamily="2" charset="-127"/>
                <a:ea typeface="A2Z 3 Light" pitchFamily="2" charset="-127"/>
              </a:rPr>
              <a:t>암호화폐 시장 적용을 통한 </a:t>
            </a:r>
            <a:r>
              <a:rPr lang="ko-KR" altLang="en-US" sz="3200" b="1" dirty="0">
                <a:latin typeface="A2Z 3 Light" pitchFamily="2" charset="-127"/>
                <a:ea typeface="A2Z 3 Light" pitchFamily="2" charset="-127"/>
              </a:rPr>
              <a:t>전략 일반성 분석</a:t>
            </a:r>
            <a:br>
              <a:rPr lang="ko-KR" altLang="en-US" sz="3200" dirty="0">
                <a:latin typeface="A2Z 3 Light" pitchFamily="2" charset="-127"/>
                <a:ea typeface="A2Z 3 Light" pitchFamily="2" charset="-127"/>
              </a:rPr>
            </a:br>
            <a:r>
              <a:rPr lang="en-US" altLang="ko-KR" sz="3200" dirty="0">
                <a:latin typeface="A2Z 3 Light" pitchFamily="2" charset="-127"/>
                <a:ea typeface="A2Z 3 Light" pitchFamily="2" charset="-127"/>
              </a:rPr>
              <a:t>3.</a:t>
            </a:r>
            <a:r>
              <a:rPr lang="ko-KR" altLang="en-US" sz="3200" dirty="0">
                <a:latin typeface="A2Z 3 Light" pitchFamily="2" charset="-127"/>
                <a:ea typeface="A2Z 3 Light" pitchFamily="2" charset="-127"/>
              </a:rPr>
              <a:t> 원자재 시장 검증을 통한 </a:t>
            </a:r>
            <a:r>
              <a:rPr lang="ko-KR" altLang="en-US" sz="3200" b="1" dirty="0">
                <a:latin typeface="A2Z 3 Light" pitchFamily="2" charset="-127"/>
                <a:ea typeface="A2Z 3 Light" pitchFamily="2" charset="-127"/>
              </a:rPr>
              <a:t>시장 간 성능 비교</a:t>
            </a:r>
            <a:br>
              <a:rPr lang="en-US" altLang="ko-KR" sz="3200" b="1" dirty="0">
                <a:latin typeface="A2Z 3 Light" pitchFamily="2" charset="-127"/>
                <a:ea typeface="A2Z 3 Light" pitchFamily="2" charset="-127"/>
              </a:rPr>
            </a:br>
            <a:r>
              <a:rPr lang="en-US" altLang="ko-KR" sz="1050" dirty="0">
                <a:latin typeface="A2Z 3 Light" pitchFamily="2" charset="-127"/>
                <a:ea typeface="A2Z 3 Light" pitchFamily="2" charset="-127"/>
              </a:rPr>
              <a:t>_</a:t>
            </a:r>
            <a:br>
              <a:rPr lang="en-US" altLang="ko-KR" sz="3200" dirty="0">
                <a:latin typeface="A2Z 3 Light" pitchFamily="2" charset="-127"/>
                <a:ea typeface="A2Z 3 Light" pitchFamily="2" charset="-127"/>
              </a:rPr>
            </a:br>
            <a:r>
              <a:rPr lang="ko-KR" altLang="en-US" sz="2800" dirty="0">
                <a:latin typeface="A2Z 3 Light" pitchFamily="2" charset="-127"/>
                <a:ea typeface="A2Z 3 Light" pitchFamily="2" charset="-127"/>
              </a:rPr>
              <a:t>궁극적으로</a:t>
            </a:r>
            <a:br>
              <a:rPr lang="ko-KR" altLang="en-US" sz="2800" dirty="0">
                <a:latin typeface="A2Z 3 Light" pitchFamily="2" charset="-127"/>
                <a:ea typeface="A2Z 3 Light" pitchFamily="2" charset="-127"/>
              </a:rPr>
            </a:br>
            <a:r>
              <a:rPr lang="ko-KR" altLang="en-US" sz="2800" b="1" dirty="0">
                <a:latin typeface="A2Z 3 Light" pitchFamily="2" charset="-127"/>
                <a:ea typeface="A2Z 3 Light" pitchFamily="2" charset="-127"/>
              </a:rPr>
              <a:t>변동성 기반 분할매매 전략의 효율성과 시장 적용 가능성을 분석</a:t>
            </a:r>
            <a:endParaRPr lang="ko-KR" altLang="en-US" sz="2800" dirty="0">
              <a:latin typeface="A2Z 3 Light" pitchFamily="2" charset="-127"/>
              <a:ea typeface="A2Z 3 Light" pitchFamily="2" charset="-127"/>
            </a:endParaRPr>
          </a:p>
        </p:txBody>
      </p:sp>
      <p:sp>
        <p:nvSpPr>
          <p:cNvPr id="10" name="TextBox 9">
            <a:extLst>
              <a:ext uri="{FF2B5EF4-FFF2-40B4-BE49-F238E27FC236}">
                <a16:creationId xmlns:a16="http://schemas.microsoft.com/office/drawing/2014/main" id="{9A1A7061-0087-BC7F-A1CD-A0BD9B7A10ED}"/>
              </a:ext>
            </a:extLst>
          </p:cNvPr>
          <p:cNvSpPr txBox="1"/>
          <p:nvPr/>
        </p:nvSpPr>
        <p:spPr>
          <a:xfrm>
            <a:off x="923544" y="676656"/>
            <a:ext cx="4105656" cy="584775"/>
          </a:xfrm>
          <a:prstGeom prst="rect">
            <a:avLst/>
          </a:prstGeom>
          <a:noFill/>
        </p:spPr>
        <p:txBody>
          <a:bodyPr wrap="square" rtlCol="0">
            <a:spAutoFit/>
          </a:bodyPr>
          <a:lstStyle/>
          <a:p>
            <a:r>
              <a:rPr lang="en-US" altLang="ko-KR" sz="3200" b="1" dirty="0">
                <a:latin typeface="A2Z 6 SemiBold" pitchFamily="2" charset="-127"/>
                <a:ea typeface="A2Z 6 SemiBold" pitchFamily="2" charset="-127"/>
              </a:rPr>
              <a:t>3. </a:t>
            </a:r>
            <a:r>
              <a:rPr lang="ko-KR" altLang="en-US" sz="3200" b="1" dirty="0">
                <a:latin typeface="A2Z 6 SemiBold" pitchFamily="2" charset="-127"/>
                <a:ea typeface="A2Z 6 SemiBold" pitchFamily="2" charset="-127"/>
              </a:rPr>
              <a:t>연구 목표</a:t>
            </a:r>
            <a:endParaRPr lang="en-US" sz="3200" dirty="0">
              <a:latin typeface="A2Z 6 SemiBold" pitchFamily="2" charset="-127"/>
              <a:ea typeface="A2Z 6 SemiBold" pitchFamily="2" charset="-127"/>
            </a:endParaRPr>
          </a:p>
        </p:txBody>
      </p:sp>
    </p:spTree>
    <p:extLst>
      <p:ext uri="{BB962C8B-B14F-4D97-AF65-F5344CB8AC3E}">
        <p14:creationId xmlns:p14="http://schemas.microsoft.com/office/powerpoint/2010/main" val="3667899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26630-B91F-1762-66BC-F5B5331A3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EC5E3-D543-32D3-5CD3-49BCA37BA097}"/>
              </a:ext>
            </a:extLst>
          </p:cNvPr>
          <p:cNvSpPr>
            <a:spLocks noGrp="1"/>
          </p:cNvSpPr>
          <p:nvPr>
            <p:ph type="ctrTitle"/>
          </p:nvPr>
        </p:nvSpPr>
        <p:spPr>
          <a:xfrm>
            <a:off x="918972" y="1197864"/>
            <a:ext cx="10354056" cy="4443983"/>
          </a:xfrm>
        </p:spPr>
        <p:txBody>
          <a:bodyPr>
            <a:noAutofit/>
          </a:bodyPr>
          <a:lstStyle/>
          <a:p>
            <a:pPr algn="l">
              <a:lnSpc>
                <a:spcPct val="150000"/>
              </a:lnSpc>
            </a:pPr>
            <a:r>
              <a:rPr lang="ko-KR" altLang="en-US" sz="2800" dirty="0">
                <a:latin typeface="A2Z 3 Light" pitchFamily="2" charset="-127"/>
                <a:ea typeface="A2Z 3 Light" pitchFamily="2" charset="-127"/>
              </a:rPr>
              <a:t>전략의 핵심 구조</a:t>
            </a:r>
            <a:br>
              <a:rPr lang="en-US" altLang="ko-KR" sz="2800" dirty="0">
                <a:latin typeface="A2Z 3 Light" pitchFamily="2" charset="-127"/>
                <a:ea typeface="A2Z 3 Light" pitchFamily="2" charset="-127"/>
              </a:rPr>
            </a:br>
            <a:r>
              <a:rPr lang="en-US" altLang="ko-KR" sz="2800" dirty="0">
                <a:latin typeface="A2Z 3 Light" pitchFamily="2" charset="-127"/>
                <a:ea typeface="A2Z 3 Light" pitchFamily="2" charset="-127"/>
              </a:rPr>
              <a:t>1. </a:t>
            </a:r>
            <a:r>
              <a:rPr lang="ko-KR" altLang="en-US" sz="2800" dirty="0">
                <a:latin typeface="A2Z 3 Light" pitchFamily="2" charset="-127"/>
                <a:ea typeface="A2Z 3 Light" pitchFamily="2" charset="-127"/>
              </a:rPr>
              <a:t>시간 기반 의사결정 </a:t>
            </a:r>
            <a:r>
              <a:rPr lang="en-US" altLang="ko-KR" sz="2800" dirty="0">
                <a:latin typeface="A2Z 3 Light" pitchFamily="2" charset="-127"/>
                <a:ea typeface="A2Z 3 Light" pitchFamily="2" charset="-127"/>
              </a:rPr>
              <a:t>: </a:t>
            </a:r>
            <a:r>
              <a:rPr lang="ko-KR" altLang="en-US" sz="2800" dirty="0">
                <a:latin typeface="A2Z 3 Light" pitchFamily="2" charset="-127"/>
                <a:ea typeface="A2Z 3 Light" pitchFamily="2" charset="-127"/>
              </a:rPr>
              <a:t>일정 주기마다 매수</a:t>
            </a:r>
            <a:r>
              <a:rPr lang="en-US" altLang="ko-KR" sz="2800" dirty="0">
                <a:latin typeface="A2Z 3 Light" pitchFamily="2" charset="-127"/>
                <a:ea typeface="A2Z 3 Light" pitchFamily="2" charset="-127"/>
              </a:rPr>
              <a:t>/</a:t>
            </a:r>
            <a:r>
              <a:rPr lang="ko-KR" altLang="en-US" sz="2800" dirty="0">
                <a:latin typeface="A2Z 3 Light" pitchFamily="2" charset="-127"/>
                <a:ea typeface="A2Z 3 Light" pitchFamily="2" charset="-127"/>
              </a:rPr>
              <a:t>매도 여부 판단</a:t>
            </a:r>
            <a:br>
              <a:rPr lang="en-US" altLang="ko-KR" sz="2800" dirty="0">
                <a:latin typeface="A2Z 3 Light" pitchFamily="2" charset="-127"/>
                <a:ea typeface="A2Z 3 Light" pitchFamily="2" charset="-127"/>
              </a:rPr>
            </a:br>
            <a:r>
              <a:rPr lang="en-US" altLang="ko-KR" sz="2800" dirty="0">
                <a:latin typeface="A2Z 3 Light" pitchFamily="2" charset="-127"/>
                <a:ea typeface="A2Z 3 Light" pitchFamily="2" charset="-127"/>
              </a:rPr>
              <a:t>2. </a:t>
            </a:r>
            <a:r>
              <a:rPr lang="ko-KR" altLang="en-US" sz="2800" dirty="0">
                <a:latin typeface="A2Z 3 Light" pitchFamily="2" charset="-127"/>
                <a:ea typeface="A2Z 3 Light" pitchFamily="2" charset="-127"/>
              </a:rPr>
              <a:t>변동성 기반 가격 설정 </a:t>
            </a:r>
            <a:r>
              <a:rPr lang="en-US" altLang="ko-KR" sz="2800" dirty="0">
                <a:latin typeface="A2Z 3 Light" pitchFamily="2" charset="-127"/>
                <a:ea typeface="A2Z 3 Light" pitchFamily="2" charset="-127"/>
              </a:rPr>
              <a:t>(</a:t>
            </a:r>
            <a:r>
              <a:rPr lang="ko-KR" altLang="en-US" sz="2800" dirty="0">
                <a:latin typeface="A2Z 3 Light" pitchFamily="2" charset="-127"/>
                <a:ea typeface="A2Z 3 Light" pitchFamily="2" charset="-127"/>
              </a:rPr>
              <a:t>예시</a:t>
            </a:r>
            <a:r>
              <a:rPr lang="en-US" altLang="ko-KR" sz="2800" dirty="0">
                <a:latin typeface="A2Z 3 Light" pitchFamily="2" charset="-127"/>
                <a:ea typeface="A2Z 3 Light" pitchFamily="2" charset="-127"/>
              </a:rPr>
              <a:t>)</a:t>
            </a:r>
            <a:br>
              <a:rPr lang="en-US" altLang="ko-KR" sz="2800" dirty="0">
                <a:latin typeface="A2Z 3 Light" pitchFamily="2" charset="-127"/>
                <a:ea typeface="A2Z 3 Light" pitchFamily="2" charset="-127"/>
              </a:rPr>
            </a:br>
            <a:r>
              <a:rPr lang="en-US" altLang="ko-KR" sz="2800" dirty="0">
                <a:latin typeface="A2Z 3 Light" pitchFamily="2" charset="-127"/>
                <a:ea typeface="A2Z 3 Light" pitchFamily="2" charset="-127"/>
              </a:rPr>
              <a:t>	</a:t>
            </a:r>
            <a:r>
              <a:rPr lang="ko-KR" altLang="en-US" sz="2800" dirty="0">
                <a:latin typeface="A2Z 3 Light" pitchFamily="2" charset="-127"/>
                <a:ea typeface="A2Z 3 Light" pitchFamily="2" charset="-127"/>
              </a:rPr>
              <a:t>매수가격 </a:t>
            </a:r>
            <a:r>
              <a:rPr lang="en-US" altLang="ko-KR" sz="2800" dirty="0">
                <a:latin typeface="A2Z 3 Light" pitchFamily="2" charset="-127"/>
                <a:ea typeface="A2Z 3 Light" pitchFamily="2" charset="-127"/>
              </a:rPr>
              <a:t>= </a:t>
            </a:r>
            <a:r>
              <a:rPr lang="ko-KR" altLang="en-US" sz="2800" dirty="0">
                <a:latin typeface="A2Z 3 Light" pitchFamily="2" charset="-127"/>
                <a:ea typeface="A2Z 3 Light" pitchFamily="2" charset="-127"/>
              </a:rPr>
              <a:t>기준가격 </a:t>
            </a:r>
            <a:r>
              <a:rPr lang="en-US" altLang="ko-KR" sz="2800" dirty="0">
                <a:latin typeface="A2Z 3 Light" pitchFamily="2" charset="-127"/>
                <a:ea typeface="A2Z 3 Light" pitchFamily="2" charset="-127"/>
              </a:rPr>
              <a:t>- k*</a:t>
            </a:r>
            <a:r>
              <a:rPr lang="ko-KR" altLang="en-US" sz="2800" dirty="0">
                <a:latin typeface="A2Z 3 Light" pitchFamily="2" charset="-127"/>
                <a:ea typeface="A2Z 3 Light" pitchFamily="2" charset="-127"/>
              </a:rPr>
              <a:t>변동성</a:t>
            </a:r>
            <a:br>
              <a:rPr lang="en-US" altLang="ko-KR" sz="2800" dirty="0">
                <a:latin typeface="A2Z 3 Light" pitchFamily="2" charset="-127"/>
                <a:ea typeface="A2Z 3 Light" pitchFamily="2" charset="-127"/>
              </a:rPr>
            </a:br>
            <a:r>
              <a:rPr lang="en-US" altLang="ko-KR" sz="2800" dirty="0">
                <a:latin typeface="A2Z 3 Light" pitchFamily="2" charset="-127"/>
                <a:ea typeface="A2Z 3 Light" pitchFamily="2" charset="-127"/>
              </a:rPr>
              <a:t>	</a:t>
            </a:r>
            <a:r>
              <a:rPr lang="ko-KR" altLang="en-US" sz="2800" dirty="0">
                <a:latin typeface="A2Z 3 Light" pitchFamily="2" charset="-127"/>
                <a:ea typeface="A2Z 3 Light" pitchFamily="2" charset="-127"/>
              </a:rPr>
              <a:t>매도가격 </a:t>
            </a:r>
            <a:r>
              <a:rPr lang="en-US" altLang="ko-KR" sz="2800" dirty="0">
                <a:latin typeface="A2Z 3 Light" pitchFamily="2" charset="-127"/>
                <a:ea typeface="A2Z 3 Light" pitchFamily="2" charset="-127"/>
              </a:rPr>
              <a:t>= </a:t>
            </a:r>
            <a:r>
              <a:rPr lang="ko-KR" altLang="en-US" sz="2800" dirty="0">
                <a:latin typeface="A2Z 3 Light" pitchFamily="2" charset="-127"/>
                <a:ea typeface="A2Z 3 Light" pitchFamily="2" charset="-127"/>
              </a:rPr>
              <a:t>기준가격 </a:t>
            </a:r>
            <a:r>
              <a:rPr lang="en-US" altLang="ko-KR" sz="2800" dirty="0">
                <a:latin typeface="A2Z 3 Light" pitchFamily="2" charset="-127"/>
                <a:ea typeface="A2Z 3 Light" pitchFamily="2" charset="-127"/>
              </a:rPr>
              <a:t>+ k*</a:t>
            </a:r>
            <a:r>
              <a:rPr lang="ko-KR" altLang="en-US" sz="2800" dirty="0">
                <a:latin typeface="A2Z 3 Light" pitchFamily="2" charset="-127"/>
                <a:ea typeface="A2Z 3 Light" pitchFamily="2" charset="-127"/>
              </a:rPr>
              <a:t>변동성</a:t>
            </a:r>
            <a:br>
              <a:rPr lang="en-US" altLang="ko-KR" sz="2800" dirty="0">
                <a:latin typeface="A2Z 3 Light" pitchFamily="2" charset="-127"/>
                <a:ea typeface="A2Z 3 Light" pitchFamily="2" charset="-127"/>
              </a:rPr>
            </a:br>
            <a:r>
              <a:rPr lang="en-US" altLang="ko-KR" sz="2800" dirty="0">
                <a:latin typeface="A2Z 3 Light" pitchFamily="2" charset="-127"/>
                <a:ea typeface="A2Z 3 Light" pitchFamily="2" charset="-127"/>
              </a:rPr>
              <a:t>3. </a:t>
            </a:r>
            <a:r>
              <a:rPr lang="ko-KR" altLang="en-US" sz="2800" dirty="0">
                <a:latin typeface="A2Z 3 Light" pitchFamily="2" charset="-127"/>
                <a:ea typeface="A2Z 3 Light" pitchFamily="2" charset="-127"/>
              </a:rPr>
              <a:t>정액 매매 </a:t>
            </a:r>
            <a:r>
              <a:rPr lang="en-US" altLang="ko-KR" sz="2800" dirty="0">
                <a:latin typeface="A2Z 3 Light" pitchFamily="2" charset="-127"/>
                <a:ea typeface="A2Z 3 Light" pitchFamily="2" charset="-127"/>
              </a:rPr>
              <a:t>: </a:t>
            </a:r>
            <a:r>
              <a:rPr lang="ko-KR" altLang="en-US" sz="2800" dirty="0">
                <a:latin typeface="A2Z 3 Light" pitchFamily="2" charset="-127"/>
                <a:ea typeface="A2Z 3 Light" pitchFamily="2" charset="-127"/>
              </a:rPr>
              <a:t>매매수량 </a:t>
            </a:r>
            <a:r>
              <a:rPr lang="en-US" altLang="ko-KR" sz="2800" dirty="0">
                <a:latin typeface="A2Z 3 Light" pitchFamily="2" charset="-127"/>
                <a:ea typeface="A2Z 3 Light" pitchFamily="2" charset="-127"/>
              </a:rPr>
              <a:t>= </a:t>
            </a:r>
            <a:r>
              <a:rPr lang="ko-KR" altLang="en-US" sz="2800" dirty="0">
                <a:latin typeface="A2Z 3 Light" pitchFamily="2" charset="-127"/>
                <a:ea typeface="A2Z 3 Light" pitchFamily="2" charset="-127"/>
              </a:rPr>
              <a:t>기준 단위 투자금액</a:t>
            </a:r>
            <a:r>
              <a:rPr lang="en-US" altLang="ko-KR" sz="2800" dirty="0">
                <a:latin typeface="A2Z 3 Light" pitchFamily="2" charset="-127"/>
                <a:ea typeface="A2Z 3 Light" pitchFamily="2" charset="-127"/>
              </a:rPr>
              <a:t>/</a:t>
            </a:r>
            <a:r>
              <a:rPr lang="ko-KR" altLang="en-US" sz="2800" dirty="0">
                <a:latin typeface="A2Z 3 Light" pitchFamily="2" charset="-127"/>
                <a:ea typeface="A2Z 3 Light" pitchFamily="2" charset="-127"/>
              </a:rPr>
              <a:t>매매가격</a:t>
            </a:r>
          </a:p>
        </p:txBody>
      </p:sp>
      <p:sp>
        <p:nvSpPr>
          <p:cNvPr id="10" name="TextBox 9">
            <a:extLst>
              <a:ext uri="{FF2B5EF4-FFF2-40B4-BE49-F238E27FC236}">
                <a16:creationId xmlns:a16="http://schemas.microsoft.com/office/drawing/2014/main" id="{B356F583-62A3-9ACF-F42A-2457F2BC46E6}"/>
              </a:ext>
            </a:extLst>
          </p:cNvPr>
          <p:cNvSpPr txBox="1"/>
          <p:nvPr/>
        </p:nvSpPr>
        <p:spPr>
          <a:xfrm>
            <a:off x="923544" y="676656"/>
            <a:ext cx="4105656" cy="584775"/>
          </a:xfrm>
          <a:prstGeom prst="rect">
            <a:avLst/>
          </a:prstGeom>
          <a:noFill/>
        </p:spPr>
        <p:txBody>
          <a:bodyPr wrap="square" rtlCol="0">
            <a:spAutoFit/>
          </a:bodyPr>
          <a:lstStyle/>
          <a:p>
            <a:r>
              <a:rPr lang="en-US" altLang="ko-KR" sz="3200" b="1" dirty="0">
                <a:latin typeface="A2Z 6 SemiBold" pitchFamily="2" charset="-127"/>
                <a:ea typeface="A2Z 6 SemiBold" pitchFamily="2" charset="-127"/>
              </a:rPr>
              <a:t>4. </a:t>
            </a:r>
            <a:r>
              <a:rPr lang="ko-KR" altLang="en-US" sz="3200" b="1" dirty="0">
                <a:latin typeface="A2Z 6 SemiBold" pitchFamily="2" charset="-127"/>
                <a:ea typeface="A2Z 6 SemiBold" pitchFamily="2" charset="-127"/>
              </a:rPr>
              <a:t>연구 방법</a:t>
            </a:r>
            <a:endParaRPr lang="en-US" sz="3200" dirty="0">
              <a:latin typeface="A2Z 6 SemiBold" pitchFamily="2" charset="-127"/>
              <a:ea typeface="A2Z 6 SemiBold" pitchFamily="2" charset="-127"/>
            </a:endParaRPr>
          </a:p>
        </p:txBody>
      </p:sp>
    </p:spTree>
    <p:extLst>
      <p:ext uri="{BB962C8B-B14F-4D97-AF65-F5344CB8AC3E}">
        <p14:creationId xmlns:p14="http://schemas.microsoft.com/office/powerpoint/2010/main" val="3334516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81EF9-8576-E160-0405-7BA85E915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0319A-2422-DD27-18B5-DBD58A5A9C4F}"/>
              </a:ext>
            </a:extLst>
          </p:cNvPr>
          <p:cNvSpPr>
            <a:spLocks noGrp="1"/>
          </p:cNvSpPr>
          <p:nvPr>
            <p:ph type="ctrTitle"/>
          </p:nvPr>
        </p:nvSpPr>
        <p:spPr>
          <a:xfrm>
            <a:off x="918972" y="1197864"/>
            <a:ext cx="10354056" cy="4443983"/>
          </a:xfrm>
        </p:spPr>
        <p:txBody>
          <a:bodyPr>
            <a:noAutofit/>
          </a:bodyPr>
          <a:lstStyle/>
          <a:p>
            <a:pPr algn="l">
              <a:lnSpc>
                <a:spcPct val="150000"/>
              </a:lnSpc>
            </a:pPr>
            <a:r>
              <a:rPr lang="ko-KR" altLang="en-US" sz="2800" dirty="0">
                <a:latin typeface="A2Z 3 Light" pitchFamily="2" charset="-127"/>
                <a:ea typeface="A2Z 3 Light" pitchFamily="2" charset="-127"/>
              </a:rPr>
              <a:t>전략의 특징</a:t>
            </a:r>
            <a:br>
              <a:rPr lang="en-US" altLang="ko-KR" sz="2800" dirty="0">
                <a:latin typeface="A2Z 3 Light" pitchFamily="2" charset="-127"/>
                <a:ea typeface="A2Z 3 Light" pitchFamily="2" charset="-127"/>
              </a:rPr>
            </a:br>
            <a:br>
              <a:rPr lang="en-US" altLang="ko-KR" sz="2800" dirty="0">
                <a:latin typeface="A2Z 3 Light" pitchFamily="2" charset="-127"/>
                <a:ea typeface="A2Z 3 Light" pitchFamily="2" charset="-127"/>
              </a:rPr>
            </a:br>
            <a:r>
              <a:rPr lang="en-US" altLang="ko-KR" sz="2800" dirty="0">
                <a:latin typeface="A2Z 3 Light" pitchFamily="2" charset="-127"/>
                <a:ea typeface="A2Z 3 Light" pitchFamily="2" charset="-127"/>
              </a:rPr>
              <a:t>1</a:t>
            </a:r>
            <a:r>
              <a:rPr lang="ko-KR" altLang="en-US" sz="2800" dirty="0">
                <a:latin typeface="A2Z 3 Light" pitchFamily="2" charset="-127"/>
                <a:ea typeface="A2Z 3 Light" pitchFamily="2" charset="-127"/>
              </a:rPr>
              <a:t>회 매수 </a:t>
            </a:r>
            <a:r>
              <a:rPr lang="en-US" altLang="ko-KR" sz="2800" dirty="0">
                <a:latin typeface="A2Z 3 Light" pitchFamily="2" charset="-127"/>
                <a:ea typeface="A2Z 3 Light" pitchFamily="2" charset="-127"/>
              </a:rPr>
              <a:t>“</a:t>
            </a:r>
            <a:r>
              <a:rPr lang="ko-KR" altLang="en-US" sz="2800" dirty="0">
                <a:latin typeface="A2Z 3 Light" pitchFamily="2" charset="-127"/>
                <a:ea typeface="A2Z 3 Light" pitchFamily="2" charset="-127"/>
              </a:rPr>
              <a:t>금액</a:t>
            </a:r>
            <a:r>
              <a:rPr lang="en-US" altLang="ko-KR" sz="2800" dirty="0">
                <a:latin typeface="A2Z 3 Light" pitchFamily="2" charset="-127"/>
                <a:ea typeface="A2Z 3 Light" pitchFamily="2" charset="-127"/>
              </a:rPr>
              <a:t>”</a:t>
            </a:r>
            <a:r>
              <a:rPr lang="ko-KR" altLang="en-US" sz="2800" dirty="0">
                <a:latin typeface="A2Z 3 Light" pitchFamily="2" charset="-127"/>
                <a:ea typeface="A2Z 3 Light" pitchFamily="2" charset="-127"/>
              </a:rPr>
              <a:t>은 항상 일정</a:t>
            </a:r>
            <a:br>
              <a:rPr lang="en-US" altLang="ko-KR" sz="2800" dirty="0">
                <a:latin typeface="A2Z 3 Light" pitchFamily="2" charset="-127"/>
                <a:ea typeface="A2Z 3 Light" pitchFamily="2" charset="-127"/>
              </a:rPr>
            </a:br>
            <a:r>
              <a:rPr lang="ko-KR" altLang="en-US" sz="2800" dirty="0">
                <a:latin typeface="A2Z 3 Light" pitchFamily="2" charset="-127"/>
                <a:ea typeface="A2Z 3 Light" pitchFamily="2" charset="-127"/>
              </a:rPr>
              <a:t>매수</a:t>
            </a:r>
            <a:r>
              <a:rPr lang="en-US" altLang="ko-KR" sz="2800" dirty="0">
                <a:latin typeface="A2Z 3 Light" pitchFamily="2" charset="-127"/>
                <a:ea typeface="A2Z 3 Light" pitchFamily="2" charset="-127"/>
              </a:rPr>
              <a:t>/</a:t>
            </a:r>
            <a:r>
              <a:rPr lang="ko-KR" altLang="en-US" sz="2800" dirty="0">
                <a:latin typeface="A2Z 3 Light" pitchFamily="2" charset="-127"/>
                <a:ea typeface="A2Z 3 Light" pitchFamily="2" charset="-127"/>
              </a:rPr>
              <a:t>매도 가격은 변동성에 따라 조정</a:t>
            </a:r>
            <a:br>
              <a:rPr lang="en-US" altLang="ko-KR" sz="2800" dirty="0">
                <a:latin typeface="A2Z 3 Light" pitchFamily="2" charset="-127"/>
                <a:ea typeface="A2Z 3 Light" pitchFamily="2" charset="-127"/>
              </a:rPr>
            </a:br>
            <a:br>
              <a:rPr lang="en-US" altLang="ko-KR" sz="2800" dirty="0">
                <a:latin typeface="A2Z 3 Light" pitchFamily="2" charset="-127"/>
                <a:ea typeface="A2Z 3 Light" pitchFamily="2" charset="-127"/>
              </a:rPr>
            </a:br>
            <a:endParaRPr lang="ko-KR" altLang="en-US" sz="2800" dirty="0">
              <a:latin typeface="A2Z 3 Light" pitchFamily="2" charset="-127"/>
              <a:ea typeface="A2Z 3 Light" pitchFamily="2" charset="-127"/>
            </a:endParaRPr>
          </a:p>
        </p:txBody>
      </p:sp>
      <p:sp>
        <p:nvSpPr>
          <p:cNvPr id="10" name="TextBox 9">
            <a:extLst>
              <a:ext uri="{FF2B5EF4-FFF2-40B4-BE49-F238E27FC236}">
                <a16:creationId xmlns:a16="http://schemas.microsoft.com/office/drawing/2014/main" id="{2FA4A4E5-2944-3B85-1549-F54A4AD82370}"/>
              </a:ext>
            </a:extLst>
          </p:cNvPr>
          <p:cNvSpPr txBox="1"/>
          <p:nvPr/>
        </p:nvSpPr>
        <p:spPr>
          <a:xfrm>
            <a:off x="923544" y="676656"/>
            <a:ext cx="4105656" cy="584775"/>
          </a:xfrm>
          <a:prstGeom prst="rect">
            <a:avLst/>
          </a:prstGeom>
          <a:noFill/>
        </p:spPr>
        <p:txBody>
          <a:bodyPr wrap="square" rtlCol="0">
            <a:spAutoFit/>
          </a:bodyPr>
          <a:lstStyle/>
          <a:p>
            <a:r>
              <a:rPr lang="en-US" altLang="ko-KR" sz="3200" b="1" dirty="0">
                <a:latin typeface="A2Z 6 SemiBold" pitchFamily="2" charset="-127"/>
                <a:ea typeface="A2Z 6 SemiBold" pitchFamily="2" charset="-127"/>
              </a:rPr>
              <a:t>4. </a:t>
            </a:r>
            <a:r>
              <a:rPr lang="ko-KR" altLang="en-US" sz="3200" b="1" dirty="0">
                <a:latin typeface="A2Z 6 SemiBold" pitchFamily="2" charset="-127"/>
                <a:ea typeface="A2Z 6 SemiBold" pitchFamily="2" charset="-127"/>
              </a:rPr>
              <a:t>연구 방법 </a:t>
            </a:r>
            <a:r>
              <a:rPr lang="en-US" altLang="ko-KR" sz="3200" b="1" dirty="0">
                <a:latin typeface="A2Z 6 SemiBold" pitchFamily="2" charset="-127"/>
                <a:ea typeface="A2Z 6 SemiBold" pitchFamily="2" charset="-127"/>
              </a:rPr>
              <a:t>(cont.)</a:t>
            </a:r>
            <a:endParaRPr lang="en-US" sz="3200" dirty="0">
              <a:latin typeface="A2Z 6 SemiBold" pitchFamily="2" charset="-127"/>
              <a:ea typeface="A2Z 6 SemiBold" pitchFamily="2" charset="-127"/>
            </a:endParaRPr>
          </a:p>
        </p:txBody>
      </p:sp>
    </p:spTree>
    <p:extLst>
      <p:ext uri="{BB962C8B-B14F-4D97-AF65-F5344CB8AC3E}">
        <p14:creationId xmlns:p14="http://schemas.microsoft.com/office/powerpoint/2010/main" val="2669429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4DE35-B420-E30C-1C9D-0D72E19D32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DBAFF-940C-322B-E842-01166866400E}"/>
              </a:ext>
            </a:extLst>
          </p:cNvPr>
          <p:cNvSpPr>
            <a:spLocks noGrp="1"/>
          </p:cNvSpPr>
          <p:nvPr>
            <p:ph type="ctrTitle"/>
          </p:nvPr>
        </p:nvSpPr>
        <p:spPr>
          <a:xfrm>
            <a:off x="918972" y="1197864"/>
            <a:ext cx="10354056" cy="4443983"/>
          </a:xfrm>
        </p:spPr>
        <p:txBody>
          <a:bodyPr>
            <a:noAutofit/>
          </a:bodyPr>
          <a:lstStyle/>
          <a:p>
            <a:pPr algn="l">
              <a:lnSpc>
                <a:spcPct val="150000"/>
              </a:lnSpc>
            </a:pPr>
            <a:r>
              <a:rPr lang="ko-KR" altLang="en-US" sz="2400" dirty="0">
                <a:latin typeface="A2Z 3 Light" pitchFamily="2" charset="-127"/>
                <a:ea typeface="A2Z 3 Light" pitchFamily="2" charset="-127"/>
              </a:rPr>
              <a:t>본 연구는 서로 다른 특성을 가진 세 금융 시장을 대상으로 실험을 진행한다</a:t>
            </a:r>
            <a:r>
              <a:rPr lang="en-US" altLang="ko-KR" sz="2400" dirty="0">
                <a:latin typeface="A2Z 3 Light" pitchFamily="2" charset="-127"/>
                <a:ea typeface="A2Z 3 Light" pitchFamily="2" charset="-127"/>
              </a:rPr>
              <a:t>.</a:t>
            </a:r>
            <a:br>
              <a:rPr lang="en-US" altLang="ko-KR" sz="2800" dirty="0">
                <a:latin typeface="A2Z 3 Light" pitchFamily="2" charset="-127"/>
                <a:ea typeface="A2Z 3 Light" pitchFamily="2" charset="-127"/>
              </a:rPr>
            </a:br>
            <a:br>
              <a:rPr lang="en-US" altLang="ko-KR" sz="2800" dirty="0">
                <a:latin typeface="A2Z 3 Light" pitchFamily="2" charset="-127"/>
                <a:ea typeface="A2Z 3 Light" pitchFamily="2" charset="-127"/>
              </a:rPr>
            </a:br>
            <a:r>
              <a:rPr lang="en-US" altLang="ko-KR" sz="2800" dirty="0">
                <a:latin typeface="A2Z 3 Light" pitchFamily="2" charset="-127"/>
                <a:ea typeface="A2Z 3 Light" pitchFamily="2" charset="-127"/>
              </a:rPr>
              <a:t>- </a:t>
            </a:r>
            <a:r>
              <a:rPr lang="ko-KR" altLang="en-US" sz="2800" dirty="0">
                <a:latin typeface="A2Z 3 Light" pitchFamily="2" charset="-127"/>
                <a:ea typeface="A2Z 3 Light" pitchFamily="2" charset="-127"/>
              </a:rPr>
              <a:t>주식 시장 </a:t>
            </a:r>
            <a:r>
              <a:rPr lang="en-US" altLang="ko-KR" sz="2800" dirty="0">
                <a:latin typeface="A2Z 3 Light" pitchFamily="2" charset="-127"/>
                <a:ea typeface="A2Z 3 Light" pitchFamily="2" charset="-127"/>
              </a:rPr>
              <a:t>: </a:t>
            </a:r>
            <a:r>
              <a:rPr lang="en-US" altLang="ko-KR" sz="2800" dirty="0" err="1">
                <a:latin typeface="A2Z 3 Light" pitchFamily="2" charset="-127"/>
                <a:ea typeface="A2Z 3 Light" pitchFamily="2" charset="-127"/>
              </a:rPr>
              <a:t>Direxion</a:t>
            </a:r>
            <a:r>
              <a:rPr lang="en-US" altLang="ko-KR" sz="2800" dirty="0">
                <a:latin typeface="A2Z 3 Light" pitchFamily="2" charset="-127"/>
                <a:ea typeface="A2Z 3 Light" pitchFamily="2" charset="-127"/>
              </a:rPr>
              <a:t> Daily Semiconductor Bull 3X Shares</a:t>
            </a:r>
            <a:br>
              <a:rPr lang="en-US" altLang="ko-KR" sz="2800" dirty="0">
                <a:latin typeface="A2Z 3 Light" pitchFamily="2" charset="-127"/>
                <a:ea typeface="A2Z 3 Light" pitchFamily="2" charset="-127"/>
              </a:rPr>
            </a:br>
            <a:r>
              <a:rPr lang="en-US" altLang="ko-KR" sz="2800" dirty="0">
                <a:latin typeface="A2Z 3 Light" pitchFamily="2" charset="-127"/>
                <a:ea typeface="A2Z 3 Light" pitchFamily="2" charset="-127"/>
              </a:rPr>
              <a:t>- </a:t>
            </a:r>
            <a:r>
              <a:rPr lang="ko-KR" altLang="en-US" sz="2800" dirty="0">
                <a:latin typeface="A2Z 3 Light" pitchFamily="2" charset="-127"/>
                <a:ea typeface="A2Z 3 Light" pitchFamily="2" charset="-127"/>
              </a:rPr>
              <a:t>암호화폐 시장 </a:t>
            </a:r>
            <a:r>
              <a:rPr lang="en-US" altLang="ko-KR" sz="2800" dirty="0">
                <a:latin typeface="A2Z 3 Light" pitchFamily="2" charset="-127"/>
                <a:ea typeface="A2Z 3 Light" pitchFamily="2" charset="-127"/>
              </a:rPr>
              <a:t>: Bitcoin </a:t>
            </a:r>
            <a:br>
              <a:rPr lang="en-US" altLang="ko-KR" sz="2800" dirty="0">
                <a:latin typeface="A2Z 3 Light" pitchFamily="2" charset="-127"/>
                <a:ea typeface="A2Z 3 Light" pitchFamily="2" charset="-127"/>
              </a:rPr>
            </a:br>
            <a:r>
              <a:rPr lang="en-US" altLang="ko-KR" sz="2800" dirty="0">
                <a:latin typeface="A2Z 3 Light" pitchFamily="2" charset="-127"/>
                <a:ea typeface="A2Z 3 Light" pitchFamily="2" charset="-127"/>
              </a:rPr>
              <a:t>- </a:t>
            </a:r>
            <a:r>
              <a:rPr lang="ko-KR" altLang="en-US" sz="2800" dirty="0">
                <a:latin typeface="A2Z 3 Light" pitchFamily="2" charset="-127"/>
                <a:ea typeface="A2Z 3 Light" pitchFamily="2" charset="-127"/>
              </a:rPr>
              <a:t>원자재 시장 </a:t>
            </a:r>
            <a:r>
              <a:rPr lang="en-US" altLang="ko-KR" sz="2800" dirty="0">
                <a:latin typeface="A2Z 3 Light" pitchFamily="2" charset="-127"/>
                <a:ea typeface="A2Z 3 Light" pitchFamily="2" charset="-127"/>
              </a:rPr>
              <a:t>: Invesco DB Commodity Index Tracking Fund</a:t>
            </a:r>
            <a:br>
              <a:rPr lang="en-US" altLang="ko-KR" sz="2800" dirty="0">
                <a:latin typeface="A2Z 3 Light" pitchFamily="2" charset="-127"/>
                <a:ea typeface="A2Z 3 Light" pitchFamily="2" charset="-127"/>
              </a:rPr>
            </a:br>
            <a:endParaRPr lang="ko-KR" altLang="en-US" sz="2800" dirty="0">
              <a:latin typeface="A2Z 3 Light" pitchFamily="2" charset="-127"/>
              <a:ea typeface="A2Z 3 Light" pitchFamily="2" charset="-127"/>
            </a:endParaRPr>
          </a:p>
        </p:txBody>
      </p:sp>
      <p:sp>
        <p:nvSpPr>
          <p:cNvPr id="10" name="TextBox 9">
            <a:extLst>
              <a:ext uri="{FF2B5EF4-FFF2-40B4-BE49-F238E27FC236}">
                <a16:creationId xmlns:a16="http://schemas.microsoft.com/office/drawing/2014/main" id="{9E2264FE-97BC-7097-34B5-D2443822E809}"/>
              </a:ext>
            </a:extLst>
          </p:cNvPr>
          <p:cNvSpPr txBox="1"/>
          <p:nvPr/>
        </p:nvSpPr>
        <p:spPr>
          <a:xfrm>
            <a:off x="923544" y="676656"/>
            <a:ext cx="4105656" cy="584775"/>
          </a:xfrm>
          <a:prstGeom prst="rect">
            <a:avLst/>
          </a:prstGeom>
          <a:noFill/>
        </p:spPr>
        <p:txBody>
          <a:bodyPr wrap="square" rtlCol="0">
            <a:spAutoFit/>
          </a:bodyPr>
          <a:lstStyle/>
          <a:p>
            <a:r>
              <a:rPr lang="en-US" altLang="ko-KR" sz="3200" b="1" dirty="0">
                <a:latin typeface="A2Z 6 SemiBold" pitchFamily="2" charset="-127"/>
                <a:ea typeface="A2Z 6 SemiBold" pitchFamily="2" charset="-127"/>
              </a:rPr>
              <a:t>5. </a:t>
            </a:r>
            <a:r>
              <a:rPr lang="ko-KR" altLang="en-US" sz="3200" b="1" dirty="0">
                <a:latin typeface="A2Z 6 SemiBold" pitchFamily="2" charset="-127"/>
                <a:ea typeface="A2Z 6 SemiBold" pitchFamily="2" charset="-127"/>
              </a:rPr>
              <a:t>실험 시장</a:t>
            </a:r>
            <a:endParaRPr lang="en-US" sz="3200" dirty="0">
              <a:latin typeface="A2Z 6 SemiBold" pitchFamily="2" charset="-127"/>
              <a:ea typeface="A2Z 6 SemiBold" pitchFamily="2" charset="-127"/>
            </a:endParaRPr>
          </a:p>
        </p:txBody>
      </p:sp>
    </p:spTree>
    <p:extLst>
      <p:ext uri="{BB962C8B-B14F-4D97-AF65-F5344CB8AC3E}">
        <p14:creationId xmlns:p14="http://schemas.microsoft.com/office/powerpoint/2010/main" val="3230721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79042-C9AF-6BF7-9F99-7F52E0DFB8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F72E8-F6ED-2A91-3510-5607A2B5644D}"/>
              </a:ext>
            </a:extLst>
          </p:cNvPr>
          <p:cNvSpPr>
            <a:spLocks noGrp="1"/>
          </p:cNvSpPr>
          <p:nvPr>
            <p:ph type="ctrTitle"/>
          </p:nvPr>
        </p:nvSpPr>
        <p:spPr>
          <a:xfrm>
            <a:off x="918972" y="1517904"/>
            <a:ext cx="10354056" cy="4443983"/>
          </a:xfrm>
        </p:spPr>
        <p:txBody>
          <a:bodyPr>
            <a:noAutofit/>
          </a:bodyPr>
          <a:lstStyle/>
          <a:p>
            <a:pPr algn="l">
              <a:lnSpc>
                <a:spcPct val="150000"/>
              </a:lnSpc>
            </a:pPr>
            <a:br>
              <a:rPr lang="en-US" altLang="ko-KR" sz="2800" dirty="0">
                <a:latin typeface="A2Z 3 Light" pitchFamily="2" charset="-127"/>
                <a:ea typeface="A2Z 3 Light" pitchFamily="2" charset="-127"/>
              </a:rPr>
            </a:br>
            <a:r>
              <a:rPr lang="ko-KR" altLang="en-US" sz="2800" dirty="0">
                <a:latin typeface="A2Z 3 Light" pitchFamily="2" charset="-127"/>
                <a:ea typeface="A2Z 3 Light" pitchFamily="2" charset="-127"/>
              </a:rPr>
              <a:t>시장 특성</a:t>
            </a:r>
            <a:br>
              <a:rPr lang="ko-KR" altLang="en-US" sz="2800" dirty="0">
                <a:latin typeface="A2Z 3 Light" pitchFamily="2" charset="-127"/>
                <a:ea typeface="A2Z 3 Light" pitchFamily="2" charset="-127"/>
              </a:rPr>
            </a:br>
            <a:br>
              <a:rPr lang="en-US" altLang="ko-KR" sz="2800" dirty="0">
                <a:latin typeface="A2Z 3 Light" pitchFamily="2" charset="-127"/>
                <a:ea typeface="A2Z 3 Light" pitchFamily="2" charset="-127"/>
              </a:rPr>
            </a:br>
            <a:r>
              <a:rPr lang="en-US" altLang="ko-KR" sz="2800" dirty="0">
                <a:latin typeface="A2Z 3 Light" pitchFamily="2" charset="-127"/>
                <a:ea typeface="A2Z 3 Light" pitchFamily="2" charset="-127"/>
              </a:rPr>
              <a:t>1. </a:t>
            </a:r>
            <a:r>
              <a:rPr lang="ko-KR" altLang="en-US" sz="2800" dirty="0">
                <a:latin typeface="A2Z 3 Light" pitchFamily="2" charset="-127"/>
                <a:ea typeface="A2Z 3 Light" pitchFamily="2" charset="-127"/>
              </a:rPr>
              <a:t>고변동성 레버리지 </a:t>
            </a:r>
            <a:r>
              <a:rPr lang="en-US" altLang="ko-KR" sz="2800" dirty="0">
                <a:latin typeface="A2Z 3 Light" pitchFamily="2" charset="-127"/>
                <a:ea typeface="A2Z 3 Light" pitchFamily="2" charset="-127"/>
              </a:rPr>
              <a:t>ETF</a:t>
            </a:r>
            <a:br>
              <a:rPr lang="en-US" altLang="ko-KR" sz="2800" dirty="0">
                <a:latin typeface="A2Z 3 Light" pitchFamily="2" charset="-127"/>
                <a:ea typeface="A2Z 3 Light" pitchFamily="2" charset="-127"/>
              </a:rPr>
            </a:br>
            <a:r>
              <a:rPr lang="en-US" altLang="ko-KR" sz="2800" dirty="0">
                <a:latin typeface="A2Z 3 Light" pitchFamily="2" charset="-127"/>
                <a:ea typeface="A2Z 3 Light" pitchFamily="2" charset="-127"/>
              </a:rPr>
              <a:t>2. 24</a:t>
            </a:r>
            <a:r>
              <a:rPr lang="ko-KR" altLang="en-US" sz="2800" dirty="0">
                <a:latin typeface="A2Z 3 Light" pitchFamily="2" charset="-127"/>
                <a:ea typeface="A2Z 3 Light" pitchFamily="2" charset="-127"/>
              </a:rPr>
              <a:t>시간 거래 암호화폐</a:t>
            </a:r>
            <a:br>
              <a:rPr lang="ko-KR" altLang="en-US" sz="2800" dirty="0">
                <a:latin typeface="A2Z 3 Light" pitchFamily="2" charset="-127"/>
                <a:ea typeface="A2Z 3 Light" pitchFamily="2" charset="-127"/>
              </a:rPr>
            </a:br>
            <a:r>
              <a:rPr lang="en-US" altLang="ko-KR" sz="2800" dirty="0">
                <a:latin typeface="A2Z 3 Light" pitchFamily="2" charset="-127"/>
                <a:ea typeface="A2Z 3 Light" pitchFamily="2" charset="-127"/>
              </a:rPr>
              <a:t>3. </a:t>
            </a:r>
            <a:r>
              <a:rPr lang="ko-KR" altLang="en-US" sz="2800" dirty="0">
                <a:latin typeface="A2Z 3 Light" pitchFamily="2" charset="-127"/>
                <a:ea typeface="A2Z 3 Light" pitchFamily="2" charset="-127"/>
              </a:rPr>
              <a:t>다양한 실물 자산 기반 </a:t>
            </a:r>
            <a:r>
              <a:rPr lang="en-US" altLang="ko-KR" sz="2800" dirty="0">
                <a:latin typeface="A2Z 3 Light" pitchFamily="2" charset="-127"/>
                <a:ea typeface="A2Z 3 Light" pitchFamily="2" charset="-127"/>
              </a:rPr>
              <a:t>ETF</a:t>
            </a:r>
            <a:br>
              <a:rPr lang="en-US" altLang="ko-KR" sz="2800" dirty="0">
                <a:latin typeface="A2Z 3 Light" pitchFamily="2" charset="-127"/>
                <a:ea typeface="A2Z 3 Light" pitchFamily="2" charset="-127"/>
              </a:rPr>
            </a:br>
            <a:br>
              <a:rPr lang="en-US" altLang="ko-KR" sz="2800" dirty="0">
                <a:latin typeface="A2Z 3 Light" pitchFamily="2" charset="-127"/>
                <a:ea typeface="A2Z 3 Light" pitchFamily="2" charset="-127"/>
              </a:rPr>
            </a:br>
            <a:r>
              <a:rPr lang="en-US" altLang="ko-KR" sz="2800" dirty="0">
                <a:latin typeface="A2Z 3 Light" pitchFamily="2" charset="-127"/>
                <a:ea typeface="A2Z 3 Light" pitchFamily="2" charset="-127"/>
              </a:rPr>
              <a:t>→ </a:t>
            </a:r>
            <a:r>
              <a:rPr lang="ko-KR" altLang="en-US" sz="2800" dirty="0">
                <a:latin typeface="A2Z 3 Light" pitchFamily="2" charset="-127"/>
                <a:ea typeface="A2Z 3 Light" pitchFamily="2" charset="-127"/>
              </a:rPr>
              <a:t>전략의 시장 일반성 검증 가능</a:t>
            </a:r>
            <a:endParaRPr lang="en-US" sz="2800" dirty="0"/>
          </a:p>
        </p:txBody>
      </p:sp>
      <p:sp>
        <p:nvSpPr>
          <p:cNvPr id="10" name="TextBox 9">
            <a:extLst>
              <a:ext uri="{FF2B5EF4-FFF2-40B4-BE49-F238E27FC236}">
                <a16:creationId xmlns:a16="http://schemas.microsoft.com/office/drawing/2014/main" id="{A4AF98AA-7AA8-012F-2EF1-31113904F087}"/>
              </a:ext>
            </a:extLst>
          </p:cNvPr>
          <p:cNvSpPr txBox="1"/>
          <p:nvPr/>
        </p:nvSpPr>
        <p:spPr>
          <a:xfrm>
            <a:off x="923544" y="676656"/>
            <a:ext cx="4105656" cy="584775"/>
          </a:xfrm>
          <a:prstGeom prst="rect">
            <a:avLst/>
          </a:prstGeom>
          <a:noFill/>
        </p:spPr>
        <p:txBody>
          <a:bodyPr wrap="square" rtlCol="0">
            <a:spAutoFit/>
          </a:bodyPr>
          <a:lstStyle/>
          <a:p>
            <a:r>
              <a:rPr lang="en-US" altLang="ko-KR" sz="3200" b="1" dirty="0">
                <a:latin typeface="A2Z 6 SemiBold" pitchFamily="2" charset="-127"/>
                <a:ea typeface="A2Z 6 SemiBold" pitchFamily="2" charset="-127"/>
              </a:rPr>
              <a:t>5. </a:t>
            </a:r>
            <a:r>
              <a:rPr lang="ko-KR" altLang="en-US" sz="3200" b="1" dirty="0">
                <a:latin typeface="A2Z 6 SemiBold" pitchFamily="2" charset="-127"/>
                <a:ea typeface="A2Z 6 SemiBold" pitchFamily="2" charset="-127"/>
              </a:rPr>
              <a:t>실험 시장 </a:t>
            </a:r>
            <a:r>
              <a:rPr lang="en-US" altLang="ko-KR" sz="3200" b="1" dirty="0">
                <a:latin typeface="A2Z 6 SemiBold" pitchFamily="2" charset="-127"/>
                <a:ea typeface="A2Z 6 SemiBold" pitchFamily="2" charset="-127"/>
              </a:rPr>
              <a:t>(cont.)</a:t>
            </a:r>
            <a:endParaRPr lang="en-US" sz="3200" dirty="0">
              <a:latin typeface="A2Z 6 SemiBold" pitchFamily="2" charset="-127"/>
              <a:ea typeface="A2Z 6 SemiBold" pitchFamily="2" charset="-127"/>
            </a:endParaRPr>
          </a:p>
        </p:txBody>
      </p:sp>
    </p:spTree>
    <p:extLst>
      <p:ext uri="{BB962C8B-B14F-4D97-AF65-F5344CB8AC3E}">
        <p14:creationId xmlns:p14="http://schemas.microsoft.com/office/powerpoint/2010/main" val="3242067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27241-AFCE-53DC-ACF9-1DCCF7821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B12A5-2D17-C2CB-DFDF-E4A463FC6808}"/>
              </a:ext>
            </a:extLst>
          </p:cNvPr>
          <p:cNvSpPr>
            <a:spLocks noGrp="1"/>
          </p:cNvSpPr>
          <p:nvPr>
            <p:ph type="ctrTitle"/>
          </p:nvPr>
        </p:nvSpPr>
        <p:spPr>
          <a:xfrm>
            <a:off x="918972" y="1965960"/>
            <a:ext cx="10354056" cy="4443983"/>
          </a:xfrm>
        </p:spPr>
        <p:txBody>
          <a:bodyPr>
            <a:noAutofit/>
          </a:bodyPr>
          <a:lstStyle/>
          <a:p>
            <a:pPr algn="l">
              <a:lnSpc>
                <a:spcPct val="150000"/>
              </a:lnSpc>
            </a:pPr>
            <a:br>
              <a:rPr lang="en-US" altLang="ko-KR" sz="2400" dirty="0">
                <a:latin typeface="A2Z 3 Light" pitchFamily="2" charset="-127"/>
                <a:ea typeface="A2Z 3 Light" pitchFamily="2" charset="-127"/>
              </a:rPr>
            </a:br>
            <a:r>
              <a:rPr lang="ko-KR" altLang="en-US" sz="2400" u="sng" dirty="0">
                <a:latin typeface="A2Z 3 Light" pitchFamily="2" charset="-127"/>
                <a:ea typeface="A2Z 3 Light" pitchFamily="2" charset="-127"/>
              </a:rPr>
              <a:t>비교 전략</a:t>
            </a:r>
            <a:br>
              <a:rPr lang="ko-KR" altLang="en-US" sz="2400" u="sng" dirty="0">
                <a:latin typeface="A2Z 3 Light" pitchFamily="2" charset="-127"/>
                <a:ea typeface="A2Z 3 Light" pitchFamily="2" charset="-127"/>
              </a:rPr>
            </a:br>
            <a:r>
              <a:rPr lang="en-US" altLang="ko-KR" sz="2400" dirty="0">
                <a:latin typeface="A2Z 3 Light" pitchFamily="2" charset="-127"/>
                <a:ea typeface="A2Z 3 Light" pitchFamily="2" charset="-127"/>
              </a:rPr>
              <a:t>- Buy and Hold</a:t>
            </a:r>
            <a:br>
              <a:rPr lang="en-US" altLang="ko-KR" sz="2400" dirty="0">
                <a:latin typeface="A2Z 3 Light" pitchFamily="2" charset="-127"/>
                <a:ea typeface="A2Z 3 Light" pitchFamily="2" charset="-127"/>
              </a:rPr>
            </a:br>
            <a:r>
              <a:rPr lang="en-US" altLang="ko-KR" sz="2400" dirty="0">
                <a:latin typeface="A2Z 3 Light" pitchFamily="2" charset="-127"/>
                <a:ea typeface="A2Z 3 Light" pitchFamily="2" charset="-127"/>
              </a:rPr>
              <a:t>- </a:t>
            </a:r>
            <a:r>
              <a:rPr lang="ko-KR" altLang="en-US" sz="2400" dirty="0">
                <a:latin typeface="A2Z 3 Light" pitchFamily="2" charset="-127"/>
                <a:ea typeface="A2Z 3 Light" pitchFamily="2" charset="-127"/>
              </a:rPr>
              <a:t>시간 기반 정액 분할매수 </a:t>
            </a:r>
            <a:r>
              <a:rPr lang="en-US" altLang="ko-KR" sz="2400" dirty="0">
                <a:latin typeface="A2Z 3 Light" pitchFamily="2" charset="-127"/>
                <a:ea typeface="A2Z 3 Light" pitchFamily="2" charset="-127"/>
              </a:rPr>
              <a:t>(DCA)</a:t>
            </a:r>
            <a:br>
              <a:rPr lang="en-US" altLang="ko-KR" sz="2400" dirty="0">
                <a:latin typeface="A2Z 3 Light" pitchFamily="2" charset="-127"/>
                <a:ea typeface="A2Z 3 Light" pitchFamily="2" charset="-127"/>
              </a:rPr>
            </a:br>
            <a:r>
              <a:rPr lang="en-US" altLang="ko-KR" sz="2400" dirty="0">
                <a:latin typeface="A2Z 3 Light" pitchFamily="2" charset="-127"/>
                <a:ea typeface="A2Z 3 Light" pitchFamily="2" charset="-127"/>
              </a:rPr>
              <a:t>- </a:t>
            </a:r>
            <a:r>
              <a:rPr lang="ko-KR" altLang="en-US" sz="2400" dirty="0">
                <a:latin typeface="A2Z 3 Light" pitchFamily="2" charset="-127"/>
                <a:ea typeface="A2Z 3 Light" pitchFamily="2" charset="-127"/>
              </a:rPr>
              <a:t>변동성 기반 분할매매 전략 </a:t>
            </a:r>
            <a:r>
              <a:rPr lang="en-US" altLang="ko-KR" sz="2400" dirty="0">
                <a:latin typeface="A2Z 3 Light" pitchFamily="2" charset="-127"/>
                <a:ea typeface="A2Z 3 Light" pitchFamily="2" charset="-127"/>
              </a:rPr>
              <a:t>(</a:t>
            </a:r>
            <a:r>
              <a:rPr lang="ko-KR" altLang="en-US" sz="2400" dirty="0">
                <a:latin typeface="A2Z 3 Light" pitchFamily="2" charset="-127"/>
                <a:ea typeface="A2Z 3 Light" pitchFamily="2" charset="-127"/>
              </a:rPr>
              <a:t>본 연구</a:t>
            </a:r>
            <a:r>
              <a:rPr lang="en-US" altLang="ko-KR" sz="2400" dirty="0">
                <a:latin typeface="A2Z 3 Light" pitchFamily="2" charset="-127"/>
                <a:ea typeface="A2Z 3 Light" pitchFamily="2" charset="-127"/>
              </a:rPr>
              <a:t>)</a:t>
            </a:r>
            <a:br>
              <a:rPr lang="en-US" altLang="ko-KR" sz="2400" dirty="0">
                <a:latin typeface="A2Z 3 Light" pitchFamily="2" charset="-127"/>
                <a:ea typeface="A2Z 3 Light" pitchFamily="2" charset="-127"/>
              </a:rPr>
            </a:br>
            <a:br>
              <a:rPr lang="en-US" altLang="ko-KR" sz="2400" dirty="0">
                <a:latin typeface="A2Z 3 Light" pitchFamily="2" charset="-127"/>
                <a:ea typeface="A2Z 3 Light" pitchFamily="2" charset="-127"/>
              </a:rPr>
            </a:br>
            <a:r>
              <a:rPr lang="ko-KR" altLang="en-US" sz="2400" u="sng" dirty="0">
                <a:latin typeface="A2Z 3 Light" pitchFamily="2" charset="-127"/>
                <a:ea typeface="A2Z 3 Light" pitchFamily="2" charset="-127"/>
              </a:rPr>
              <a:t>평가 지표</a:t>
            </a:r>
            <a:br>
              <a:rPr lang="ko-KR" altLang="en-US" sz="2400" u="sng" dirty="0">
                <a:latin typeface="A2Z 3 Light" pitchFamily="2" charset="-127"/>
                <a:ea typeface="A2Z 3 Light" pitchFamily="2" charset="-127"/>
              </a:rPr>
            </a:br>
            <a:r>
              <a:rPr lang="en-US" altLang="ko-KR" sz="2400" dirty="0">
                <a:latin typeface="A2Z 3 Light" pitchFamily="2" charset="-127"/>
                <a:ea typeface="A2Z 3 Light" pitchFamily="2" charset="-127"/>
              </a:rPr>
              <a:t>- </a:t>
            </a:r>
            <a:r>
              <a:rPr lang="ko-KR" altLang="en-US" sz="2400" dirty="0">
                <a:latin typeface="A2Z 3 Light" pitchFamily="2" charset="-127"/>
                <a:ea typeface="A2Z 3 Light" pitchFamily="2" charset="-127"/>
              </a:rPr>
              <a:t>수익성 </a:t>
            </a:r>
            <a:r>
              <a:rPr lang="en-US" altLang="ko-KR" sz="2400" dirty="0">
                <a:latin typeface="A2Z 3 Light" pitchFamily="2" charset="-127"/>
                <a:ea typeface="A2Z 3 Light" pitchFamily="2" charset="-127"/>
              </a:rPr>
              <a:t>: </a:t>
            </a:r>
            <a:r>
              <a:rPr lang="ko-KR" altLang="en-US" sz="2400" dirty="0">
                <a:latin typeface="A2Z 3 Light" pitchFamily="2" charset="-127"/>
                <a:ea typeface="A2Z 3 Light" pitchFamily="2" charset="-127"/>
              </a:rPr>
              <a:t>누적 수익률 </a:t>
            </a:r>
            <a:r>
              <a:rPr lang="en-US" altLang="ko-KR" sz="2400" dirty="0">
                <a:latin typeface="A2Z 3 Light" pitchFamily="2" charset="-127"/>
                <a:ea typeface="A2Z 3 Light" pitchFamily="2" charset="-127"/>
              </a:rPr>
              <a:t>/ </a:t>
            </a:r>
            <a:r>
              <a:rPr lang="ko-KR" altLang="en-US" sz="2400" dirty="0">
                <a:latin typeface="A2Z 3 Light" pitchFamily="2" charset="-127"/>
                <a:ea typeface="A2Z 3 Light" pitchFamily="2" charset="-127"/>
              </a:rPr>
              <a:t>연평균 수익률</a:t>
            </a:r>
            <a:br>
              <a:rPr lang="ko-KR" altLang="en-US" sz="2400" dirty="0">
                <a:latin typeface="A2Z 3 Light" pitchFamily="2" charset="-127"/>
                <a:ea typeface="A2Z 3 Light" pitchFamily="2" charset="-127"/>
              </a:rPr>
            </a:br>
            <a:r>
              <a:rPr lang="en-US" altLang="ko-KR" sz="2400" dirty="0">
                <a:latin typeface="A2Z 3 Light" pitchFamily="2" charset="-127"/>
                <a:ea typeface="A2Z 3 Light" pitchFamily="2" charset="-127"/>
              </a:rPr>
              <a:t>- </a:t>
            </a:r>
            <a:r>
              <a:rPr lang="ko-KR" altLang="en-US" sz="2400" dirty="0">
                <a:latin typeface="A2Z 3 Light" pitchFamily="2" charset="-127"/>
                <a:ea typeface="A2Z 3 Light" pitchFamily="2" charset="-127"/>
              </a:rPr>
              <a:t>리스크 </a:t>
            </a:r>
            <a:r>
              <a:rPr lang="en-US" altLang="ko-KR" sz="2400" dirty="0">
                <a:latin typeface="A2Z 3 Light" pitchFamily="2" charset="-127"/>
                <a:ea typeface="A2Z 3 Light" pitchFamily="2" charset="-127"/>
              </a:rPr>
              <a:t>: Maximum Drawdown (</a:t>
            </a:r>
            <a:r>
              <a:rPr lang="ko-KR" altLang="en-US" sz="2400" dirty="0">
                <a:latin typeface="A2Z 3 Light" pitchFamily="2" charset="-127"/>
                <a:ea typeface="A2Z 3 Light" pitchFamily="2" charset="-127"/>
              </a:rPr>
              <a:t>최대 낙폭</a:t>
            </a:r>
            <a:r>
              <a:rPr lang="en-US" altLang="ko-KR" sz="2400" dirty="0">
                <a:latin typeface="A2Z 3 Light" pitchFamily="2" charset="-127"/>
                <a:ea typeface="A2Z 3 Light" pitchFamily="2" charset="-127"/>
              </a:rPr>
              <a:t>) / </a:t>
            </a:r>
            <a:r>
              <a:rPr lang="ko-KR" altLang="en-US" sz="2400" dirty="0">
                <a:latin typeface="A2Z 3 Light" pitchFamily="2" charset="-127"/>
                <a:ea typeface="A2Z 3 Light" pitchFamily="2" charset="-127"/>
              </a:rPr>
              <a:t>변동성</a:t>
            </a:r>
            <a:br>
              <a:rPr lang="ko-KR" altLang="en-US" sz="2400" dirty="0">
                <a:latin typeface="A2Z 3 Light" pitchFamily="2" charset="-127"/>
                <a:ea typeface="A2Z 3 Light" pitchFamily="2" charset="-127"/>
              </a:rPr>
            </a:br>
            <a:r>
              <a:rPr lang="en-US" altLang="ko-KR" sz="2400" dirty="0">
                <a:latin typeface="A2Z 3 Light" pitchFamily="2" charset="-127"/>
                <a:ea typeface="A2Z 3 Light" pitchFamily="2" charset="-127"/>
              </a:rPr>
              <a:t>- </a:t>
            </a:r>
            <a:r>
              <a:rPr lang="ko-KR" altLang="en-US" sz="2400" dirty="0">
                <a:latin typeface="A2Z 3 Light" pitchFamily="2" charset="-127"/>
                <a:ea typeface="A2Z 3 Light" pitchFamily="2" charset="-127"/>
              </a:rPr>
              <a:t>위험 대비 성과 </a:t>
            </a:r>
            <a:r>
              <a:rPr lang="en-US" altLang="ko-KR" sz="2400" dirty="0">
                <a:latin typeface="A2Z 3 Light" pitchFamily="2" charset="-127"/>
                <a:ea typeface="A2Z 3 Light" pitchFamily="2" charset="-127"/>
              </a:rPr>
              <a:t>: Sharpe Ratio</a:t>
            </a:r>
            <a:endParaRPr lang="en-US" sz="2400" dirty="0"/>
          </a:p>
        </p:txBody>
      </p:sp>
      <p:sp>
        <p:nvSpPr>
          <p:cNvPr id="10" name="TextBox 9">
            <a:extLst>
              <a:ext uri="{FF2B5EF4-FFF2-40B4-BE49-F238E27FC236}">
                <a16:creationId xmlns:a16="http://schemas.microsoft.com/office/drawing/2014/main" id="{D46A18C0-DA16-4DA8-6D81-37C412A93D6D}"/>
              </a:ext>
            </a:extLst>
          </p:cNvPr>
          <p:cNvSpPr txBox="1"/>
          <p:nvPr/>
        </p:nvSpPr>
        <p:spPr>
          <a:xfrm>
            <a:off x="923544" y="676656"/>
            <a:ext cx="4105656" cy="584775"/>
          </a:xfrm>
          <a:prstGeom prst="rect">
            <a:avLst/>
          </a:prstGeom>
          <a:noFill/>
        </p:spPr>
        <p:txBody>
          <a:bodyPr wrap="square" rtlCol="0">
            <a:spAutoFit/>
          </a:bodyPr>
          <a:lstStyle/>
          <a:p>
            <a:r>
              <a:rPr lang="en-US" altLang="ko-KR" sz="3200" b="1" dirty="0">
                <a:latin typeface="A2Z 6 SemiBold" pitchFamily="2" charset="-127"/>
                <a:ea typeface="A2Z 6 SemiBold" pitchFamily="2" charset="-127"/>
              </a:rPr>
              <a:t>6. </a:t>
            </a:r>
            <a:r>
              <a:rPr lang="ko-KR" altLang="en-US" sz="3200" b="1" dirty="0">
                <a:latin typeface="A2Z 6 SemiBold" pitchFamily="2" charset="-127"/>
                <a:ea typeface="A2Z 6 SemiBold" pitchFamily="2" charset="-127"/>
              </a:rPr>
              <a:t>평가 방법 </a:t>
            </a:r>
            <a:endParaRPr lang="en-US" sz="3200" dirty="0">
              <a:latin typeface="A2Z 6 SemiBold" pitchFamily="2" charset="-127"/>
              <a:ea typeface="A2Z 6 SemiBold" pitchFamily="2" charset="-127"/>
            </a:endParaRPr>
          </a:p>
        </p:txBody>
      </p:sp>
    </p:spTree>
    <p:extLst>
      <p:ext uri="{BB962C8B-B14F-4D97-AF65-F5344CB8AC3E}">
        <p14:creationId xmlns:p14="http://schemas.microsoft.com/office/powerpoint/2010/main" val="2446648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9BA57-AF62-65F3-DDCF-D34A6BB508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9FF50-F398-EDCF-2542-ECD1466D6553}"/>
              </a:ext>
            </a:extLst>
          </p:cNvPr>
          <p:cNvSpPr>
            <a:spLocks noGrp="1"/>
          </p:cNvSpPr>
          <p:nvPr>
            <p:ph type="ctrTitle"/>
          </p:nvPr>
        </p:nvSpPr>
        <p:spPr>
          <a:xfrm>
            <a:off x="918972" y="1965960"/>
            <a:ext cx="3707892" cy="4443983"/>
          </a:xfrm>
        </p:spPr>
        <p:txBody>
          <a:bodyPr>
            <a:noAutofit/>
          </a:bodyPr>
          <a:lstStyle/>
          <a:p>
            <a:pPr algn="l">
              <a:lnSpc>
                <a:spcPct val="150000"/>
              </a:lnSpc>
            </a:pPr>
            <a:r>
              <a:rPr lang="en-US" altLang="ko-KR" sz="1800" dirty="0">
                <a:latin typeface="A2Z 3 Light" pitchFamily="2" charset="-127"/>
                <a:ea typeface="A2Z 3 Light" pitchFamily="2" charset="-127"/>
              </a:rPr>
              <a:t>3, 4</a:t>
            </a:r>
            <a:r>
              <a:rPr lang="ko-KR" altLang="en-US" sz="1800" dirty="0">
                <a:latin typeface="A2Z 3 Light" pitchFamily="2" charset="-127"/>
                <a:ea typeface="A2Z 3 Light" pitchFamily="2" charset="-127"/>
              </a:rPr>
              <a:t>월 </a:t>
            </a:r>
            <a:r>
              <a:rPr lang="en-US" altLang="ko-KR" sz="1800" dirty="0">
                <a:latin typeface="A2Z 3 Light" pitchFamily="2" charset="-127"/>
                <a:ea typeface="A2Z 3 Light" pitchFamily="2" charset="-127"/>
              </a:rPr>
              <a:t>— </a:t>
            </a:r>
            <a:r>
              <a:rPr lang="ko-KR" altLang="en-US" sz="1800" dirty="0">
                <a:latin typeface="A2Z 3 Light" pitchFamily="2" charset="-127"/>
                <a:ea typeface="A2Z 3 Light" pitchFamily="2" charset="-127"/>
              </a:rPr>
              <a:t>연구 기초 및 전략 설계</a:t>
            </a:r>
            <a:br>
              <a:rPr lang="en-US" altLang="ko-KR" sz="1800" dirty="0">
                <a:latin typeface="A2Z 3 Light" pitchFamily="2" charset="-127"/>
                <a:ea typeface="A2Z 3 Light" pitchFamily="2" charset="-127"/>
              </a:rPr>
            </a:br>
            <a:br>
              <a:rPr lang="en-US" altLang="ko-KR" sz="1800" dirty="0">
                <a:latin typeface="A2Z 3 Light" pitchFamily="2" charset="-127"/>
                <a:ea typeface="A2Z 3 Light" pitchFamily="2" charset="-127"/>
              </a:rPr>
            </a:br>
            <a:r>
              <a:rPr lang="ko-KR" altLang="en-US" sz="1800" dirty="0">
                <a:latin typeface="A2Z 3 Light" pitchFamily="2" charset="-127"/>
                <a:ea typeface="A2Z 3 Light" pitchFamily="2" charset="-127"/>
              </a:rPr>
              <a:t>주식 시장</a:t>
            </a:r>
            <a:br>
              <a:rPr lang="ko-KR" altLang="en-US" sz="1800" dirty="0">
                <a:latin typeface="A2Z 3 Light" pitchFamily="2" charset="-127"/>
                <a:ea typeface="A2Z 3 Light" pitchFamily="2" charset="-127"/>
              </a:rPr>
            </a:br>
            <a:br>
              <a:rPr lang="ko-KR" altLang="en-US" sz="1800" dirty="0">
                <a:latin typeface="A2Z 3 Light" pitchFamily="2" charset="-127"/>
                <a:ea typeface="A2Z 3 Light" pitchFamily="2" charset="-127"/>
              </a:rPr>
            </a:br>
            <a:r>
              <a:rPr lang="en-US" altLang="ko-KR" sz="1800" dirty="0">
                <a:latin typeface="A2Z 3 Light" pitchFamily="2" charset="-127"/>
                <a:ea typeface="A2Z 3 Light" pitchFamily="2" charset="-127"/>
              </a:rPr>
              <a:t>- </a:t>
            </a:r>
            <a:r>
              <a:rPr lang="ko-KR" altLang="en-US" sz="1800" dirty="0">
                <a:latin typeface="A2Z 3 Light" pitchFamily="2" charset="-127"/>
                <a:ea typeface="A2Z 3 Light" pitchFamily="2" charset="-127"/>
              </a:rPr>
              <a:t>관련 연구 조사 </a:t>
            </a:r>
            <a:r>
              <a:rPr lang="en-US" altLang="ko-KR" sz="1800" dirty="0">
                <a:latin typeface="A2Z 3 Light" pitchFamily="2" charset="-127"/>
                <a:ea typeface="A2Z 3 Light" pitchFamily="2" charset="-127"/>
              </a:rPr>
              <a:t>(</a:t>
            </a:r>
            <a:r>
              <a:rPr lang="ko-KR" altLang="en-US" sz="1800" dirty="0">
                <a:latin typeface="A2Z 3 Light" pitchFamily="2" charset="-127"/>
                <a:ea typeface="A2Z 3 Light" pitchFamily="2" charset="-127"/>
              </a:rPr>
              <a:t>분할매매 전략</a:t>
            </a:r>
            <a:r>
              <a:rPr lang="en-US" altLang="ko-KR" sz="1800" dirty="0">
                <a:latin typeface="A2Z 3 Light" pitchFamily="2" charset="-127"/>
                <a:ea typeface="A2Z 3 Light" pitchFamily="2" charset="-127"/>
              </a:rPr>
              <a:t>, </a:t>
            </a:r>
            <a:r>
              <a:rPr lang="ko-KR" altLang="en-US" sz="1800" dirty="0">
                <a:latin typeface="A2Z 3 Light" pitchFamily="2" charset="-127"/>
                <a:ea typeface="A2Z 3 Light" pitchFamily="2" charset="-127"/>
              </a:rPr>
              <a:t>변동성 지표</a:t>
            </a:r>
            <a:r>
              <a:rPr lang="en-US" altLang="ko-KR" sz="1800" dirty="0">
                <a:latin typeface="A2Z 3 Light" pitchFamily="2" charset="-127"/>
                <a:ea typeface="A2Z 3 Light" pitchFamily="2" charset="-127"/>
              </a:rPr>
              <a:t>)</a:t>
            </a:r>
            <a:br>
              <a:rPr lang="en-US" altLang="ko-KR" sz="1800" dirty="0">
                <a:latin typeface="A2Z 3 Light" pitchFamily="2" charset="-127"/>
                <a:ea typeface="A2Z 3 Light" pitchFamily="2" charset="-127"/>
              </a:rPr>
            </a:br>
            <a:r>
              <a:rPr lang="en-US" altLang="ko-KR" sz="1800" dirty="0">
                <a:latin typeface="A2Z 3 Light" pitchFamily="2" charset="-127"/>
                <a:ea typeface="A2Z 3 Light" pitchFamily="2" charset="-127"/>
              </a:rPr>
              <a:t>- </a:t>
            </a:r>
            <a:r>
              <a:rPr lang="ko-KR" altLang="en-US" sz="1800" dirty="0">
                <a:latin typeface="A2Z 3 Light" pitchFamily="2" charset="-127"/>
                <a:ea typeface="A2Z 3 Light" pitchFamily="2" charset="-127"/>
              </a:rPr>
              <a:t>데이터 수집 및 </a:t>
            </a:r>
            <a:r>
              <a:rPr lang="ko-KR" altLang="en-US" sz="1800" dirty="0" err="1">
                <a:latin typeface="A2Z 3 Light" pitchFamily="2" charset="-127"/>
                <a:ea typeface="A2Z 3 Light" pitchFamily="2" charset="-127"/>
              </a:rPr>
              <a:t>전처리</a:t>
            </a:r>
            <a:br>
              <a:rPr lang="ko-KR" altLang="en-US" sz="1800" dirty="0">
                <a:latin typeface="A2Z 3 Light" pitchFamily="2" charset="-127"/>
                <a:ea typeface="A2Z 3 Light" pitchFamily="2" charset="-127"/>
              </a:rPr>
            </a:br>
            <a:r>
              <a:rPr lang="en-US" altLang="ko-KR" sz="1800" dirty="0">
                <a:latin typeface="A2Z 3 Light" pitchFamily="2" charset="-127"/>
                <a:ea typeface="A2Z 3 Light" pitchFamily="2" charset="-127"/>
              </a:rPr>
              <a:t>- </a:t>
            </a:r>
            <a:r>
              <a:rPr lang="ko-KR" altLang="en-US" sz="1800" dirty="0">
                <a:latin typeface="A2Z 3 Light" pitchFamily="2" charset="-127"/>
                <a:ea typeface="A2Z 3 Light" pitchFamily="2" charset="-127"/>
              </a:rPr>
              <a:t>자산별 평균 변동성 계산 방법 정의</a:t>
            </a:r>
            <a:br>
              <a:rPr lang="ko-KR" altLang="en-US" sz="1800" dirty="0">
                <a:latin typeface="A2Z 3 Light" pitchFamily="2" charset="-127"/>
                <a:ea typeface="A2Z 3 Light" pitchFamily="2" charset="-127"/>
              </a:rPr>
            </a:br>
            <a:r>
              <a:rPr lang="en-US" altLang="ko-KR" sz="1800" dirty="0">
                <a:latin typeface="A2Z 3 Light" pitchFamily="2" charset="-127"/>
                <a:ea typeface="A2Z 3 Light" pitchFamily="2" charset="-127"/>
              </a:rPr>
              <a:t>- </a:t>
            </a:r>
            <a:r>
              <a:rPr lang="ko-KR" altLang="en-US" sz="1800" dirty="0">
                <a:latin typeface="A2Z 3 Light" pitchFamily="2" charset="-127"/>
                <a:ea typeface="A2Z 3 Light" pitchFamily="2" charset="-127"/>
              </a:rPr>
              <a:t>변동성을 활용한 정액 분할매매 전략 설계</a:t>
            </a:r>
            <a:br>
              <a:rPr lang="ko-KR" altLang="en-US" sz="1800" dirty="0">
                <a:latin typeface="A2Z 3 Light" pitchFamily="2" charset="-127"/>
                <a:ea typeface="A2Z 3 Light" pitchFamily="2" charset="-127"/>
              </a:rPr>
            </a:br>
            <a:endParaRPr lang="en-US" sz="1800" dirty="0"/>
          </a:p>
        </p:txBody>
      </p:sp>
      <p:sp>
        <p:nvSpPr>
          <p:cNvPr id="10" name="TextBox 9">
            <a:extLst>
              <a:ext uri="{FF2B5EF4-FFF2-40B4-BE49-F238E27FC236}">
                <a16:creationId xmlns:a16="http://schemas.microsoft.com/office/drawing/2014/main" id="{651300F4-6388-69BE-33A8-1D0C135C7B9C}"/>
              </a:ext>
            </a:extLst>
          </p:cNvPr>
          <p:cNvSpPr txBox="1"/>
          <p:nvPr/>
        </p:nvSpPr>
        <p:spPr>
          <a:xfrm>
            <a:off x="923544" y="676656"/>
            <a:ext cx="4105656" cy="584775"/>
          </a:xfrm>
          <a:prstGeom prst="rect">
            <a:avLst/>
          </a:prstGeom>
          <a:noFill/>
        </p:spPr>
        <p:txBody>
          <a:bodyPr wrap="square" rtlCol="0">
            <a:spAutoFit/>
          </a:bodyPr>
          <a:lstStyle/>
          <a:p>
            <a:r>
              <a:rPr lang="en-US" altLang="ko-KR" sz="3200" b="1" dirty="0">
                <a:latin typeface="A2Z 6 SemiBold" pitchFamily="2" charset="-127"/>
                <a:ea typeface="A2Z 6 SemiBold" pitchFamily="2" charset="-127"/>
              </a:rPr>
              <a:t>7. </a:t>
            </a:r>
            <a:r>
              <a:rPr lang="ko-KR" altLang="en-US" sz="3200" b="1" dirty="0">
                <a:latin typeface="A2Z 6 SemiBold" pitchFamily="2" charset="-127"/>
                <a:ea typeface="A2Z 6 SemiBold" pitchFamily="2" charset="-127"/>
              </a:rPr>
              <a:t>연구 일정</a:t>
            </a:r>
            <a:endParaRPr lang="en-US" sz="3200" dirty="0">
              <a:latin typeface="A2Z 6 SemiBold" pitchFamily="2" charset="-127"/>
              <a:ea typeface="A2Z 6 SemiBold" pitchFamily="2" charset="-127"/>
            </a:endParaRPr>
          </a:p>
        </p:txBody>
      </p:sp>
      <p:sp>
        <p:nvSpPr>
          <p:cNvPr id="3" name="Title 1">
            <a:extLst>
              <a:ext uri="{FF2B5EF4-FFF2-40B4-BE49-F238E27FC236}">
                <a16:creationId xmlns:a16="http://schemas.microsoft.com/office/drawing/2014/main" id="{75178CA8-77C2-D277-E083-9ED7F833406C}"/>
              </a:ext>
            </a:extLst>
          </p:cNvPr>
          <p:cNvSpPr txBox="1">
            <a:spLocks/>
          </p:cNvSpPr>
          <p:nvPr/>
        </p:nvSpPr>
        <p:spPr>
          <a:xfrm>
            <a:off x="4502658" y="2542032"/>
            <a:ext cx="3186684" cy="260299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50000"/>
              </a:lnSpc>
            </a:pPr>
            <a:r>
              <a:rPr lang="en-US" altLang="ko-KR" sz="1800" dirty="0">
                <a:latin typeface="A2Z 3 Light" pitchFamily="2" charset="-127"/>
                <a:ea typeface="A2Z 3 Light" pitchFamily="2" charset="-127"/>
              </a:rPr>
              <a:t>5, 6</a:t>
            </a:r>
            <a:r>
              <a:rPr lang="ko-KR" altLang="en-US" sz="1800" dirty="0">
                <a:latin typeface="A2Z 3 Light" pitchFamily="2" charset="-127"/>
                <a:ea typeface="A2Z 3 Light" pitchFamily="2" charset="-127"/>
              </a:rPr>
              <a:t>월 </a:t>
            </a:r>
            <a:r>
              <a:rPr lang="en-US" altLang="ko-KR" sz="1800" dirty="0">
                <a:latin typeface="A2Z 3 Light" pitchFamily="2" charset="-127"/>
                <a:ea typeface="A2Z 3 Light" pitchFamily="2" charset="-127"/>
              </a:rPr>
              <a:t>— </a:t>
            </a:r>
            <a:r>
              <a:rPr lang="ko-KR" altLang="en-US" sz="1800" dirty="0">
                <a:latin typeface="A2Z 3 Light" pitchFamily="2" charset="-127"/>
                <a:ea typeface="A2Z 3 Light" pitchFamily="2" charset="-127"/>
              </a:rPr>
              <a:t>전략 개발</a:t>
            </a:r>
          </a:p>
          <a:p>
            <a:pPr algn="l">
              <a:lnSpc>
                <a:spcPct val="150000"/>
              </a:lnSpc>
            </a:pPr>
            <a:endParaRPr lang="en-US" altLang="ko-KR" sz="1800" dirty="0">
              <a:latin typeface="A2Z 3 Light" pitchFamily="2" charset="-127"/>
              <a:ea typeface="A2Z 3 Light" pitchFamily="2" charset="-127"/>
            </a:endParaRPr>
          </a:p>
          <a:p>
            <a:pPr algn="l">
              <a:lnSpc>
                <a:spcPct val="150000"/>
              </a:lnSpc>
            </a:pPr>
            <a:r>
              <a:rPr lang="ko-KR" altLang="en-US" sz="1800" dirty="0">
                <a:latin typeface="A2Z 3 Light" pitchFamily="2" charset="-127"/>
                <a:ea typeface="A2Z 3 Light" pitchFamily="2" charset="-127"/>
              </a:rPr>
              <a:t>암호 화폐 시장</a:t>
            </a:r>
            <a:endParaRPr lang="en-US" altLang="ko-KR" sz="1800" dirty="0">
              <a:latin typeface="A2Z 3 Light" pitchFamily="2" charset="-127"/>
              <a:ea typeface="A2Z 3 Light" pitchFamily="2" charset="-127"/>
            </a:endParaRPr>
          </a:p>
          <a:p>
            <a:pPr algn="l">
              <a:lnSpc>
                <a:spcPct val="150000"/>
              </a:lnSpc>
            </a:pPr>
            <a:endParaRPr lang="ko-KR" altLang="en-US" sz="1800" dirty="0">
              <a:latin typeface="A2Z 3 Light" pitchFamily="2" charset="-127"/>
              <a:ea typeface="A2Z 3 Light" pitchFamily="2" charset="-127"/>
            </a:endParaRPr>
          </a:p>
          <a:p>
            <a:pPr algn="l">
              <a:lnSpc>
                <a:spcPct val="150000"/>
              </a:lnSpc>
            </a:pPr>
            <a:r>
              <a:rPr lang="en-US" altLang="ko-KR" sz="1800" dirty="0">
                <a:latin typeface="A2Z 3 Light" pitchFamily="2" charset="-127"/>
                <a:ea typeface="A2Z 3 Light" pitchFamily="2" charset="-127"/>
              </a:rPr>
              <a:t>- </a:t>
            </a:r>
            <a:r>
              <a:rPr lang="ko-KR" altLang="en-US" sz="1800" dirty="0">
                <a:latin typeface="A2Z 3 Light" pitchFamily="2" charset="-127"/>
                <a:ea typeface="A2Z 3 Light" pitchFamily="2" charset="-127"/>
              </a:rPr>
              <a:t>전략 구현 </a:t>
            </a:r>
            <a:r>
              <a:rPr lang="en-US" altLang="ko-KR" sz="1800" dirty="0">
                <a:latin typeface="A2Z 3 Light" pitchFamily="2" charset="-127"/>
                <a:ea typeface="A2Z 3 Light" pitchFamily="2" charset="-127"/>
              </a:rPr>
              <a:t>(Python </a:t>
            </a:r>
            <a:r>
              <a:rPr lang="ko-KR" altLang="en-US" sz="1800" dirty="0">
                <a:latin typeface="A2Z 3 Light" pitchFamily="2" charset="-127"/>
                <a:ea typeface="A2Z 3 Light" pitchFamily="2" charset="-127"/>
              </a:rPr>
              <a:t>백테스트</a:t>
            </a:r>
            <a:r>
              <a:rPr lang="en-US" altLang="ko-KR" sz="1800" dirty="0">
                <a:latin typeface="A2Z 3 Light" pitchFamily="2" charset="-127"/>
                <a:ea typeface="A2Z 3 Light" pitchFamily="2" charset="-127"/>
              </a:rPr>
              <a:t>)</a:t>
            </a:r>
          </a:p>
          <a:p>
            <a:pPr algn="l">
              <a:lnSpc>
                <a:spcPct val="150000"/>
              </a:lnSpc>
            </a:pPr>
            <a:r>
              <a:rPr lang="en-US" altLang="ko-KR" sz="1800" dirty="0">
                <a:latin typeface="A2Z 3 Light" pitchFamily="2" charset="-127"/>
                <a:ea typeface="A2Z 3 Light" pitchFamily="2" charset="-127"/>
              </a:rPr>
              <a:t>- </a:t>
            </a:r>
            <a:r>
              <a:rPr lang="ko-KR" altLang="en-US" sz="1800" dirty="0">
                <a:latin typeface="A2Z 3 Light" pitchFamily="2" charset="-127"/>
                <a:ea typeface="A2Z 3 Light" pitchFamily="2" charset="-127"/>
              </a:rPr>
              <a:t>변동성 기반 매수</a:t>
            </a:r>
            <a:r>
              <a:rPr lang="en-US" altLang="ko-KR" sz="1800" dirty="0">
                <a:latin typeface="A2Z 3 Light" pitchFamily="2" charset="-127"/>
                <a:ea typeface="A2Z 3 Light" pitchFamily="2" charset="-127"/>
              </a:rPr>
              <a:t>·</a:t>
            </a:r>
            <a:r>
              <a:rPr lang="ko-KR" altLang="en-US" sz="1800" dirty="0">
                <a:latin typeface="A2Z 3 Light" pitchFamily="2" charset="-127"/>
                <a:ea typeface="A2Z 3 Light" pitchFamily="2" charset="-127"/>
              </a:rPr>
              <a:t>매도 가격 규칙 구현</a:t>
            </a:r>
          </a:p>
          <a:p>
            <a:pPr algn="l">
              <a:lnSpc>
                <a:spcPct val="150000"/>
              </a:lnSpc>
            </a:pPr>
            <a:r>
              <a:rPr lang="en-US" altLang="ko-KR" sz="1800" dirty="0">
                <a:latin typeface="A2Z 3 Light" pitchFamily="2" charset="-127"/>
                <a:ea typeface="A2Z 3 Light" pitchFamily="2" charset="-127"/>
              </a:rPr>
              <a:t>- </a:t>
            </a:r>
            <a:r>
              <a:rPr lang="ko-KR" altLang="en-US" sz="1800" dirty="0">
                <a:latin typeface="A2Z 3 Light" pitchFamily="2" charset="-127"/>
                <a:ea typeface="A2Z 3 Light" pitchFamily="2" charset="-127"/>
              </a:rPr>
              <a:t>전략 파라미터 탐색</a:t>
            </a:r>
            <a:endParaRPr lang="en-US" sz="1800" dirty="0"/>
          </a:p>
        </p:txBody>
      </p:sp>
      <p:sp>
        <p:nvSpPr>
          <p:cNvPr id="4" name="Title 1">
            <a:extLst>
              <a:ext uri="{FF2B5EF4-FFF2-40B4-BE49-F238E27FC236}">
                <a16:creationId xmlns:a16="http://schemas.microsoft.com/office/drawing/2014/main" id="{55FB39CA-F870-6AF4-68D5-71F419D7B1FE}"/>
              </a:ext>
            </a:extLst>
          </p:cNvPr>
          <p:cNvSpPr txBox="1">
            <a:spLocks/>
          </p:cNvSpPr>
          <p:nvPr/>
        </p:nvSpPr>
        <p:spPr>
          <a:xfrm>
            <a:off x="7981188" y="1694689"/>
            <a:ext cx="3186684" cy="20269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ko-KR" sz="1800" dirty="0">
                <a:latin typeface="A2Z 3 Light" pitchFamily="2" charset="-127"/>
                <a:ea typeface="A2Z 3 Light" pitchFamily="2" charset="-127"/>
              </a:rPr>
              <a:t>9, 10</a:t>
            </a:r>
            <a:r>
              <a:rPr lang="ko-KR" altLang="en-US" sz="1800" dirty="0">
                <a:latin typeface="A2Z 3 Light" pitchFamily="2" charset="-127"/>
                <a:ea typeface="A2Z 3 Light" pitchFamily="2" charset="-127"/>
              </a:rPr>
              <a:t>월 </a:t>
            </a:r>
            <a:r>
              <a:rPr lang="en-US" altLang="ko-KR" sz="1800" dirty="0">
                <a:latin typeface="A2Z 3 Light" pitchFamily="2" charset="-127"/>
                <a:ea typeface="A2Z 3 Light" pitchFamily="2" charset="-127"/>
              </a:rPr>
              <a:t>— </a:t>
            </a:r>
            <a:r>
              <a:rPr lang="ko-KR" altLang="en-US" sz="1800" dirty="0">
                <a:latin typeface="A2Z 3 Light" pitchFamily="2" charset="-127"/>
                <a:ea typeface="A2Z 3 Light" pitchFamily="2" charset="-127"/>
              </a:rPr>
              <a:t>전략 일반성 검증</a:t>
            </a:r>
            <a:endParaRPr lang="en-US" altLang="ko-KR" sz="1800" dirty="0">
              <a:latin typeface="A2Z 3 Light" pitchFamily="2" charset="-127"/>
              <a:ea typeface="A2Z 3 Light" pitchFamily="2" charset="-127"/>
            </a:endParaRPr>
          </a:p>
          <a:p>
            <a:pPr algn="l"/>
            <a:endParaRPr lang="en-US" altLang="ko-KR" sz="1800" dirty="0">
              <a:latin typeface="A2Z 3 Light" pitchFamily="2" charset="-127"/>
              <a:ea typeface="A2Z 3 Light" pitchFamily="2" charset="-127"/>
            </a:endParaRPr>
          </a:p>
          <a:p>
            <a:pPr algn="l"/>
            <a:r>
              <a:rPr lang="ko-KR" altLang="en-US" sz="1800" dirty="0">
                <a:latin typeface="A2Z 3 Light" pitchFamily="2" charset="-127"/>
                <a:ea typeface="A2Z 3 Light" pitchFamily="2" charset="-127"/>
              </a:rPr>
              <a:t>원자재 시장</a:t>
            </a:r>
          </a:p>
          <a:p>
            <a:pPr algn="l"/>
            <a:endParaRPr lang="en-US" altLang="ko-KR" sz="1800" dirty="0">
              <a:latin typeface="A2Z 3 Light" pitchFamily="2" charset="-127"/>
              <a:ea typeface="A2Z 3 Light" pitchFamily="2" charset="-127"/>
            </a:endParaRPr>
          </a:p>
          <a:p>
            <a:pPr algn="l"/>
            <a:r>
              <a:rPr lang="ko-KR" altLang="en-US" sz="1800" dirty="0">
                <a:latin typeface="A2Z 3 Light" pitchFamily="2" charset="-127"/>
                <a:ea typeface="A2Z 3 Light" pitchFamily="2" charset="-127"/>
              </a:rPr>
              <a:t>전략 성능 분석</a:t>
            </a:r>
          </a:p>
          <a:p>
            <a:pPr algn="l"/>
            <a:r>
              <a:rPr lang="ko-KR" altLang="en-US" sz="1800" dirty="0">
                <a:latin typeface="A2Z 3 Light" pitchFamily="2" charset="-127"/>
                <a:ea typeface="A2Z 3 Light" pitchFamily="2" charset="-127"/>
              </a:rPr>
              <a:t>전략 일반성 분석</a:t>
            </a:r>
          </a:p>
          <a:p>
            <a:pPr algn="l"/>
            <a:r>
              <a:rPr lang="ko-KR" altLang="en-US" sz="1800" dirty="0">
                <a:latin typeface="A2Z 3 Light" pitchFamily="2" charset="-127"/>
                <a:ea typeface="A2Z 3 Light" pitchFamily="2" charset="-127"/>
              </a:rPr>
              <a:t>시장 간 성능 비교 분석</a:t>
            </a:r>
            <a:endParaRPr lang="en-US" altLang="ko-KR" sz="1800" dirty="0">
              <a:latin typeface="A2Z 3 Light" pitchFamily="2" charset="-127"/>
              <a:ea typeface="A2Z 3 Light" pitchFamily="2" charset="-127"/>
            </a:endParaRPr>
          </a:p>
        </p:txBody>
      </p:sp>
      <p:sp>
        <p:nvSpPr>
          <p:cNvPr id="5" name="Title 1">
            <a:extLst>
              <a:ext uri="{FF2B5EF4-FFF2-40B4-BE49-F238E27FC236}">
                <a16:creationId xmlns:a16="http://schemas.microsoft.com/office/drawing/2014/main" id="{D803CDCE-38DA-62FE-FC10-74A2B8519626}"/>
              </a:ext>
            </a:extLst>
          </p:cNvPr>
          <p:cNvSpPr txBox="1">
            <a:spLocks/>
          </p:cNvSpPr>
          <p:nvPr/>
        </p:nvSpPr>
        <p:spPr>
          <a:xfrm>
            <a:off x="7981188" y="4242814"/>
            <a:ext cx="3186684" cy="90220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ko-KR" sz="1800" dirty="0">
                <a:latin typeface="A2Z 3 Light" pitchFamily="2" charset="-127"/>
                <a:ea typeface="A2Z 3 Light" pitchFamily="2" charset="-127"/>
              </a:rPr>
              <a:t>11</a:t>
            </a:r>
            <a:r>
              <a:rPr lang="ko-KR" altLang="en-US" sz="1800" dirty="0">
                <a:latin typeface="A2Z 3 Light" pitchFamily="2" charset="-127"/>
                <a:ea typeface="A2Z 3 Light" pitchFamily="2" charset="-127"/>
              </a:rPr>
              <a:t>월 </a:t>
            </a:r>
            <a:r>
              <a:rPr lang="en-US" altLang="ko-KR" sz="1800" dirty="0">
                <a:latin typeface="A2Z 3 Light" pitchFamily="2" charset="-127"/>
                <a:ea typeface="A2Z 3 Light" pitchFamily="2" charset="-127"/>
              </a:rPr>
              <a:t>— </a:t>
            </a:r>
            <a:r>
              <a:rPr lang="ko-KR" altLang="en-US" sz="1800" dirty="0">
                <a:latin typeface="A2Z 3 Light" pitchFamily="2" charset="-127"/>
                <a:ea typeface="A2Z 3 Light" pitchFamily="2" charset="-127"/>
              </a:rPr>
              <a:t>결과 분석 및 연구 정리</a:t>
            </a:r>
          </a:p>
        </p:txBody>
      </p:sp>
    </p:spTree>
    <p:extLst>
      <p:ext uri="{BB962C8B-B14F-4D97-AF65-F5344CB8AC3E}">
        <p14:creationId xmlns:p14="http://schemas.microsoft.com/office/powerpoint/2010/main" val="2880364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59311-B87A-58BA-D296-3A141EE892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FEF34-1DB9-8722-070E-0DD0CB6EC8FB}"/>
              </a:ext>
            </a:extLst>
          </p:cNvPr>
          <p:cNvSpPr>
            <a:spLocks noGrp="1"/>
          </p:cNvSpPr>
          <p:nvPr>
            <p:ph type="ctrTitle"/>
          </p:nvPr>
        </p:nvSpPr>
        <p:spPr>
          <a:xfrm>
            <a:off x="918972" y="1755648"/>
            <a:ext cx="10354056" cy="4443983"/>
          </a:xfrm>
        </p:spPr>
        <p:txBody>
          <a:bodyPr>
            <a:noAutofit/>
          </a:bodyPr>
          <a:lstStyle/>
          <a:p>
            <a:pPr algn="l">
              <a:lnSpc>
                <a:spcPct val="150000"/>
              </a:lnSpc>
            </a:pPr>
            <a:br>
              <a:rPr lang="en-US" altLang="ko-KR" sz="2800" dirty="0">
                <a:latin typeface="A2Z 3 Light" pitchFamily="2" charset="-127"/>
                <a:ea typeface="A2Z 3 Light" pitchFamily="2" charset="-127"/>
              </a:rPr>
            </a:br>
            <a:r>
              <a:rPr lang="ko-KR" altLang="en-US" sz="2400" dirty="0">
                <a:latin typeface="A2Z 3 Light" pitchFamily="2" charset="-127"/>
                <a:ea typeface="A2Z 3 Light" pitchFamily="2" charset="-127"/>
              </a:rPr>
              <a:t>본 연구를 통해 다음과 같은 결과를 기대한다</a:t>
            </a:r>
            <a:r>
              <a:rPr lang="en-US" altLang="ko-KR" sz="2400" dirty="0">
                <a:latin typeface="A2Z 3 Light" pitchFamily="2" charset="-127"/>
                <a:ea typeface="A2Z 3 Light" pitchFamily="2" charset="-127"/>
              </a:rPr>
              <a:t>.</a:t>
            </a:r>
            <a:br>
              <a:rPr lang="en-US" altLang="ko-KR" sz="2400" dirty="0">
                <a:latin typeface="A2Z 3 Light" pitchFamily="2" charset="-127"/>
                <a:ea typeface="A2Z 3 Light" pitchFamily="2" charset="-127"/>
              </a:rPr>
            </a:br>
            <a:r>
              <a:rPr lang="en-US" altLang="ko-KR" sz="1200" dirty="0">
                <a:latin typeface="A2Z 3 Light" pitchFamily="2" charset="-127"/>
                <a:ea typeface="A2Z 3 Light" pitchFamily="2" charset="-127"/>
              </a:rPr>
              <a:t>_</a:t>
            </a:r>
            <a:br>
              <a:rPr lang="en-US" altLang="ko-KR" sz="2800" dirty="0">
                <a:latin typeface="A2Z 3 Light" pitchFamily="2" charset="-127"/>
                <a:ea typeface="A2Z 3 Light" pitchFamily="2" charset="-127"/>
              </a:rPr>
            </a:br>
            <a:r>
              <a:rPr lang="en-US" altLang="ko-KR" sz="2800" dirty="0">
                <a:latin typeface="A2Z 3 Light" pitchFamily="2" charset="-127"/>
                <a:ea typeface="A2Z 3 Light" pitchFamily="2" charset="-127"/>
              </a:rPr>
              <a:t>1. </a:t>
            </a:r>
            <a:r>
              <a:rPr lang="ko-KR" altLang="en-US" sz="2800" dirty="0">
                <a:latin typeface="A2Z 3 Light" pitchFamily="2" charset="-127"/>
                <a:ea typeface="A2Z 3 Light" pitchFamily="2" charset="-127"/>
              </a:rPr>
              <a:t>변동성을 활용한 </a:t>
            </a:r>
            <a:r>
              <a:rPr lang="ko-KR" altLang="en-US" sz="2800" b="1" dirty="0">
                <a:latin typeface="A2Z 3 Light" pitchFamily="2" charset="-127"/>
                <a:ea typeface="A2Z 3 Light" pitchFamily="2" charset="-127"/>
              </a:rPr>
              <a:t>정액 분할매매 전략 설계 방법 제시</a:t>
            </a:r>
            <a:br>
              <a:rPr lang="ko-KR" altLang="en-US" sz="2800" dirty="0">
                <a:latin typeface="A2Z 3 Light" pitchFamily="2" charset="-127"/>
                <a:ea typeface="A2Z 3 Light" pitchFamily="2" charset="-127"/>
              </a:rPr>
            </a:br>
            <a:r>
              <a:rPr lang="en-US" altLang="ko-KR" sz="2800" dirty="0">
                <a:latin typeface="A2Z 3 Light" pitchFamily="2" charset="-127"/>
                <a:ea typeface="A2Z 3 Light" pitchFamily="2" charset="-127"/>
              </a:rPr>
              <a:t>2. </a:t>
            </a:r>
            <a:r>
              <a:rPr lang="ko-KR" altLang="en-US" sz="2800" dirty="0">
                <a:latin typeface="A2Z 3 Light" pitchFamily="2" charset="-127"/>
                <a:ea typeface="A2Z 3 Light" pitchFamily="2" charset="-127"/>
              </a:rPr>
              <a:t>다양한 금융 시장에서 전략 성능 비교</a:t>
            </a:r>
            <a:br>
              <a:rPr lang="ko-KR" altLang="en-US" sz="2800" dirty="0">
                <a:latin typeface="A2Z 3 Light" pitchFamily="2" charset="-127"/>
                <a:ea typeface="A2Z 3 Light" pitchFamily="2" charset="-127"/>
              </a:rPr>
            </a:br>
            <a:r>
              <a:rPr lang="en-US" altLang="ko-KR" sz="2800" dirty="0">
                <a:latin typeface="A2Z 3 Light" pitchFamily="2" charset="-127"/>
                <a:ea typeface="A2Z 3 Light" pitchFamily="2" charset="-127"/>
              </a:rPr>
              <a:t>3. </a:t>
            </a:r>
            <a:r>
              <a:rPr lang="ko-KR" altLang="en-US" sz="2800" dirty="0">
                <a:latin typeface="A2Z 3 Light" pitchFamily="2" charset="-127"/>
                <a:ea typeface="A2Z 3 Light" pitchFamily="2" charset="-127"/>
              </a:rPr>
              <a:t>변동성 기반 매매 전략의 </a:t>
            </a:r>
            <a:r>
              <a:rPr lang="ko-KR" altLang="en-US" sz="2800" b="1" dirty="0">
                <a:latin typeface="A2Z 3 Light" pitchFamily="2" charset="-127"/>
                <a:ea typeface="A2Z 3 Light" pitchFamily="2" charset="-127"/>
              </a:rPr>
              <a:t>시장 일반성 분석</a:t>
            </a:r>
            <a:br>
              <a:rPr lang="ko-KR" altLang="en-US" sz="2800" dirty="0">
                <a:latin typeface="A2Z 3 Light" pitchFamily="2" charset="-127"/>
                <a:ea typeface="A2Z 3 Light" pitchFamily="2" charset="-127"/>
              </a:rPr>
            </a:br>
            <a:r>
              <a:rPr lang="en-US" altLang="ko-KR" sz="2800" dirty="0">
                <a:latin typeface="A2Z 3 Light" pitchFamily="2" charset="-127"/>
                <a:ea typeface="A2Z 3 Light" pitchFamily="2" charset="-127"/>
              </a:rPr>
              <a:t>4. </a:t>
            </a:r>
            <a:r>
              <a:rPr lang="ko-KR" altLang="en-US" sz="2800" dirty="0">
                <a:latin typeface="A2Z 3 Light" pitchFamily="2" charset="-127"/>
                <a:ea typeface="A2Z 3 Light" pitchFamily="2" charset="-127"/>
              </a:rPr>
              <a:t>자동화 투자 전략 연구에 활용 가능한 기초 자료 제공</a:t>
            </a:r>
            <a:br>
              <a:rPr lang="en-US" altLang="ko-KR" sz="2800" dirty="0">
                <a:latin typeface="A2Z 3 Light" pitchFamily="2" charset="-127"/>
                <a:ea typeface="A2Z 3 Light" pitchFamily="2" charset="-127"/>
              </a:rPr>
            </a:br>
            <a:r>
              <a:rPr lang="en-US" altLang="ko-KR" sz="1200" dirty="0">
                <a:latin typeface="A2Z 3 Light" pitchFamily="2" charset="-127"/>
                <a:ea typeface="A2Z 3 Light" pitchFamily="2" charset="-127"/>
              </a:rPr>
              <a:t>_</a:t>
            </a:r>
            <a:br>
              <a:rPr lang="ko-KR" altLang="en-US" sz="2800" dirty="0">
                <a:latin typeface="A2Z 3 Light" pitchFamily="2" charset="-127"/>
                <a:ea typeface="A2Z 3 Light" pitchFamily="2" charset="-127"/>
              </a:rPr>
            </a:br>
            <a:r>
              <a:rPr lang="ko-KR" altLang="en-US" sz="2400" dirty="0">
                <a:latin typeface="A2Z 3 Light" pitchFamily="2" charset="-127"/>
                <a:ea typeface="A2Z 3 Light" pitchFamily="2" charset="-127"/>
              </a:rPr>
              <a:t>또한 연구 결과는</a:t>
            </a:r>
            <a:br>
              <a:rPr lang="ko-KR" altLang="en-US" sz="2400" dirty="0">
                <a:latin typeface="A2Z 3 Light" pitchFamily="2" charset="-127"/>
                <a:ea typeface="A2Z 3 Light" pitchFamily="2" charset="-127"/>
              </a:rPr>
            </a:br>
            <a:r>
              <a:rPr lang="ko-KR" altLang="en-US" sz="2400" dirty="0">
                <a:latin typeface="A2Z 3 Light" pitchFamily="2" charset="-127"/>
                <a:ea typeface="A2Z 3 Light" pitchFamily="2" charset="-127"/>
              </a:rPr>
              <a:t>알고리즘 트레이딩 및 자동 투자 시스템 개발에 활용 가능</a:t>
            </a:r>
            <a:endParaRPr lang="en-US" sz="2400" dirty="0"/>
          </a:p>
        </p:txBody>
      </p:sp>
      <p:sp>
        <p:nvSpPr>
          <p:cNvPr id="10" name="TextBox 9">
            <a:extLst>
              <a:ext uri="{FF2B5EF4-FFF2-40B4-BE49-F238E27FC236}">
                <a16:creationId xmlns:a16="http://schemas.microsoft.com/office/drawing/2014/main" id="{757EB1C2-4AAB-7729-3CC1-64F9BF9B08AF}"/>
              </a:ext>
            </a:extLst>
          </p:cNvPr>
          <p:cNvSpPr txBox="1"/>
          <p:nvPr/>
        </p:nvSpPr>
        <p:spPr>
          <a:xfrm>
            <a:off x="923544" y="676656"/>
            <a:ext cx="4105656" cy="584775"/>
          </a:xfrm>
          <a:prstGeom prst="rect">
            <a:avLst/>
          </a:prstGeom>
          <a:noFill/>
        </p:spPr>
        <p:txBody>
          <a:bodyPr wrap="square" rtlCol="0">
            <a:spAutoFit/>
          </a:bodyPr>
          <a:lstStyle/>
          <a:p>
            <a:r>
              <a:rPr lang="en-US" altLang="ko-KR" sz="3200" b="1" dirty="0">
                <a:latin typeface="A2Z 6 SemiBold" pitchFamily="2" charset="-127"/>
                <a:ea typeface="A2Z 6 SemiBold" pitchFamily="2" charset="-127"/>
              </a:rPr>
              <a:t>8. </a:t>
            </a:r>
            <a:r>
              <a:rPr lang="ko-KR" altLang="en-US" sz="3200" b="1" dirty="0">
                <a:latin typeface="A2Z 6 SemiBold" pitchFamily="2" charset="-127"/>
                <a:ea typeface="A2Z 6 SemiBold" pitchFamily="2" charset="-127"/>
              </a:rPr>
              <a:t>기대 결과</a:t>
            </a:r>
            <a:endParaRPr lang="en-US" sz="3200" dirty="0">
              <a:latin typeface="A2Z 6 SemiBold" pitchFamily="2" charset="-127"/>
              <a:ea typeface="A2Z 6 SemiBold" pitchFamily="2" charset="-127"/>
            </a:endParaRPr>
          </a:p>
        </p:txBody>
      </p:sp>
    </p:spTree>
    <p:extLst>
      <p:ext uri="{BB962C8B-B14F-4D97-AF65-F5344CB8AC3E}">
        <p14:creationId xmlns:p14="http://schemas.microsoft.com/office/powerpoint/2010/main" val="711856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67</TotalTime>
  <Words>698</Words>
  <Application>Microsoft Office PowerPoint</Application>
  <PresentationFormat>Widescreen</PresentationFormat>
  <Paragraphs>44</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gowun</vt:lpstr>
      <vt:lpstr>A2Z 6 SemiBold</vt:lpstr>
      <vt:lpstr>A2Z 5 Medium</vt:lpstr>
      <vt:lpstr>Aptos Display</vt:lpstr>
      <vt:lpstr>A2Z 3 Light</vt:lpstr>
      <vt:lpstr>Aptos</vt:lpstr>
      <vt:lpstr>Office Theme</vt:lpstr>
      <vt:lpstr>변동성 기반, 정액 분할매매  전략의 설계와  금융 시장에서의 검증</vt:lpstr>
      <vt:lpstr>  자산별 평균 변동성을 기반으로 매수·매도 가격을 설정하고,   일정 주기마다 매매 여부를 판단하는 정액 분할매매 전략은  다양한 금융 시장에서 유효한가?</vt:lpstr>
      <vt:lpstr>Contents 1. 연구 배경  2. 문제 정의  3. 연구 목표  4. 연구 방법  </vt:lpstr>
      <vt:lpstr>“자동화 투자 전략”   대표적인 분할 투자 방식 :   정액 분할매수 (Dollar Cost Averaging) </vt:lpstr>
      <vt:lpstr>기존 전략의 한계 - 매수 전략이 단순히 고정된 시간 기준뿐임 - 매도 전략이 명확하지 않음 - 자산별 변동성 차이를 반영하지 못함  따라서 변동성을 반영한 분할매매 전략 설계가 필요하다.</vt:lpstr>
      <vt:lpstr>“기존 분할매매 전략의 한계” (prev. slide)  따라서 본 연구에서는  각 자산 시장의 평균 변동성을 기반으로 매수·매도 가격을 설정하고, 일정 시간마다 매매 여부를 판단하는  “정액 분할매매 전략”을 설계하고  다양한 금융 시장에서 성능을 검증한다.</vt:lpstr>
      <vt:lpstr>1. 주식 시장에서 전략 개발 및 파라미터 탐색      (변동성을 활용한 정액 분할매매 전략 설계) 2. 암호화폐 시장 적용을 통한 전략 일반성 분석 3. 원자재 시장 검증을 통한 시장 간 성능 비교 _ 궁극적으로 변동성 기반 분할매매 전략의 효율성과 시장 적용 가능성을 분석</vt:lpstr>
      <vt:lpstr>전략의 핵심 구조 1. 시간 기반 의사결정 : 일정 주기마다 매수/매도 여부 판단 2. 변동성 기반 가격 설정 (예시)  매수가격 = 기준가격 - k*변동성  매도가격 = 기준가격 + k*변동성 3. 정액 매매 : 매매수량 = 기준 단위 투자금액/매매가격</vt:lpstr>
      <vt:lpstr>전략의 특징  1회 매수 “금액”은 항상 일정 매수/매도 가격은 변동성에 따라 조정  </vt:lpstr>
      <vt:lpstr>본 연구는 서로 다른 특성을 가진 세 금융 시장을 대상으로 실험을 진행한다.  - 주식 시장 : Direxion Daily Semiconductor Bull 3X Shares - 암호화폐 시장 : Bitcoin  - 원자재 시장 : Invesco DB Commodity Index Tracking Fund </vt:lpstr>
      <vt:lpstr> 시장 특성  1. 고변동성 레버리지 ETF 2. 24시간 거래 암호화폐 3. 다양한 실물 자산 기반 ETF  → 전략의 시장 일반성 검증 가능</vt:lpstr>
      <vt:lpstr> 비교 전략 - Buy and Hold - 시간 기반 정액 분할매수 (DCA) - 변동성 기반 분할매매 전략 (본 연구)  평가 지표 - 수익성 : 누적 수익률 / 연평균 수익률 - 리스크 : Maximum Drawdown (최대 낙폭) / 변동성 - 위험 대비 성과 : Sharpe Ratio</vt:lpstr>
      <vt:lpstr>3, 4월 — 연구 기초 및 전략 설계  주식 시장  - 관련 연구 조사 (분할매매 전략, 변동성 지표) - 데이터 수집 및 전처리 - 자산별 평균 변동성 계산 방법 정의 - 변동성을 활용한 정액 분할매매 전략 설계 </vt:lpstr>
      <vt:lpstr> 본 연구를 통해 다음과 같은 결과를 기대한다. _ 1. 변동성을 활용한 정액 분할매매 전략 설계 방법 제시 2. 다양한 금융 시장에서 전략 성능 비교 3. 변동성 기반 매매 전략의 시장 일반성 분석 4. 자동화 투자 전략 연구에 활용 가능한 기초 자료 제공 _ 또한 연구 결과는 알고리즘 트레이딩 및 자동 투자 시스템 개발에 활용 가능</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이찬희</dc:creator>
  <cp:lastModifiedBy>이찬희</cp:lastModifiedBy>
  <cp:revision>3</cp:revision>
  <dcterms:created xsi:type="dcterms:W3CDTF">2026-03-12T06:38:09Z</dcterms:created>
  <dcterms:modified xsi:type="dcterms:W3CDTF">2026-03-26T05:33:16Z</dcterms:modified>
</cp:coreProperties>
</file>