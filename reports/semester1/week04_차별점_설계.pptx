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72" r:id="rId9"/>
    <p:sldId id="273" r:id="rId10"/>
    <p:sldId id="274" r:id="rId11"/>
  </p:sldIdLst>
  <p:sldSz cx="12192000" cy="6858000"/>
  <p:notesSz cx="6858000" cy="9144000"/>
  <p:embeddedFontLst>
    <p:embeddedFont>
      <p:font typeface="A2Z 6 SemiBold" pitchFamily="2" charset="-127"/>
      <p:bold r:id="rId13"/>
    </p:embeddedFont>
    <p:embeddedFont>
      <p:font typeface="A2Z 5 Medium" pitchFamily="2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  <p:embeddedFont>
      <p:font typeface="A2Z 3 Light" pitchFamily="2" charset="-127"/>
      <p:regular r:id="rId17"/>
    </p:embeddedFont>
    <p:embeddedFont>
      <p:font typeface="Gowun Batang" pitchFamily="2" charset="-12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325A3-6F28-4E79-B755-DF96AAB990D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B1383-479D-4A55-A3CB-7C8DAD6C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8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9E43-FFC5-7F6B-AB88-92BA3CA00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047E2-686F-AE68-A54D-256300445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82C05-2A3C-C066-DB24-3927E3DF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48CEE-A33F-4B88-AC67-15EA2E4E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3BFC8-7FB0-6E92-69F9-4A40C7D6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4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A645-BCFE-6AD0-26E6-7A2D63F7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FEB70-2D4C-E15E-8E05-BB54A78D2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C1BB-47B6-A0CB-CC0D-6C4289F8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9531D-A997-EB79-CD6C-84A1E32D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3EBE1-98D2-4AF6-8F40-5409DA74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905C-DA37-3645-04D3-7D71C67F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AEDE2-C55D-D1AF-B010-64451D2C1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EF0A4-3B75-7908-25C3-270B449F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FD3C-99AF-D83C-E545-45681E61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039D-1475-AF98-1F77-AF28EDD5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4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E871-72E6-201A-7AB5-E53204C4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55E7-8FA8-08FC-8D17-995E53AB8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4F8D9-B3A6-FF49-2CBF-D33DA3200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A617-A0BB-2F75-F213-6734B326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228D0-A0CC-7B2C-B452-90FF9A39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26577-5AF7-FC01-1DE8-658EFE3F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B2D3-90B0-8DFC-C594-CAA81B43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4512E-BC05-2D0B-BD2B-DE460B03D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1FEA2-2B25-98D3-1147-1318B09A9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4FB55-C1D4-2C01-76B2-0A99BAB80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2BE98-8955-276B-97D1-631BDAB9E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5EC9B4-ACE7-E0D5-E1CD-C3BEF173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41D39-95B7-99CD-D42F-42660785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D2BB6-FED7-A96B-3AC3-95CD29C8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0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31DC-F1AC-0763-EC9B-92F55236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7184F-BA30-003B-08A9-0228CAB9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BAF83-E392-ACE2-3A34-CF4088C0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53F6B-4670-D2CE-4E4D-A63A2869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49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872D8-E17C-4F8A-DE85-996EAA34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04D57B-48F5-8766-E9BA-3863DD15C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25BF0-AFBE-756F-BE49-0EFD442E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2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7335-68EF-5DB9-DE52-EDF5C003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B0CB8-9E58-69FB-6612-7A8029015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FFA37-B491-C852-BE9F-2DC12DAC7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4130F-2EEF-CF39-498A-00BB26B86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0BCD7-43CB-7647-1C83-806570CD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A0754-17C0-10F1-7186-2252AC7E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1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D103-4F5E-96A9-C600-322174EE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1C9AF-70A2-6884-1D8B-EAFC21C74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73227-C60E-C6DC-A840-C5A371DBD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19D1B-9FE8-BF14-8DEE-D1CA3A10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599C-6812-CE64-B069-0A47B8B2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BA452-612F-9AEB-1BA1-785041E7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8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ACF3-C421-D68D-DB80-4B4F4444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CE9FC-D8B5-0309-C348-716046AAD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53ED3-E8D0-8590-93C3-47CBAE66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BFF0-F335-9847-7841-018F43F5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96F43-91A3-36FA-3AB0-44B7BA28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6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1381A-8DA1-FEC0-CF43-84D4D94D2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E21A4-9EBB-2E55-720B-D0CF4C47B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9234-9209-F878-4697-EED57D76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4AB2F-E612-87A0-1975-B03110E4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CEF86-7A32-26A8-3FFF-9A8071B1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DBDBD3-FF35-B4D9-0F8D-DA927A46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AC349-3989-719F-4B08-E053C8383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19AF9-A0DD-5DBB-A203-CB8E961492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54C88-70E4-4D04-8924-F67D1EB4853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7D71C-4036-F51F-A6EB-0BBB59919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0DB88-918A-55DA-F1E1-991AAD7F1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3D217-31D0-4C9D-BB1C-05F51B0F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8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C2A7-49A4-95FD-16F0-C9846BA89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236" y="1069911"/>
            <a:ext cx="10556033" cy="3212156"/>
          </a:xfrm>
        </p:spPr>
        <p:txBody>
          <a:bodyPr>
            <a:normAutofit/>
          </a:bodyPr>
          <a:lstStyle/>
          <a:p>
            <a:pPr latinLnBrk="1">
              <a:lnSpc>
                <a:spcPct val="150000"/>
              </a:lnSpc>
            </a:pPr>
            <a:r>
              <a:rPr lang="ko-KR" altLang="ko-KR" sz="3100" b="1" dirty="0">
                <a:latin typeface="A2Z 3 Light" pitchFamily="2" charset="-127"/>
                <a:ea typeface="A2Z 3 Light" pitchFamily="2" charset="-127"/>
              </a:rPr>
              <a:t>가격 예측 없이 </a:t>
            </a:r>
            <a:r>
              <a:rPr lang="ko-KR" altLang="ko-KR" sz="4000" b="1" dirty="0" smtClean="0">
                <a:latin typeface="A2Z 3 Light" pitchFamily="2" charset="-127"/>
                <a:ea typeface="A2Z 3 Light" pitchFamily="2" charset="-127"/>
              </a:rPr>
              <a:t>기술지표만을</a:t>
            </a:r>
            <a:r>
              <a:rPr lang="en-US" altLang="ko-KR" sz="4000" b="1" dirty="0" smtClean="0">
                <a:latin typeface="A2Z 3 Light" pitchFamily="2" charset="-127"/>
                <a:ea typeface="A2Z 3 Light" pitchFamily="2" charset="-127"/>
              </a:rPr>
              <a:t> state</a:t>
            </a:r>
            <a:r>
              <a:rPr lang="ko-KR" altLang="ko-KR" sz="4000" b="1" dirty="0">
                <a:latin typeface="A2Z 3 Light" pitchFamily="2" charset="-127"/>
                <a:ea typeface="A2Z 3 Light" pitchFamily="2" charset="-127"/>
              </a:rPr>
              <a:t>로 사용하는</a:t>
            </a:r>
            <a:r>
              <a:rPr lang="en-US" altLang="ko-KR" sz="4000" b="1" dirty="0">
                <a:latin typeface="A2Z 3 Light" pitchFamily="2" charset="-127"/>
                <a:ea typeface="A2Z 3 Light" pitchFamily="2" charset="-127"/>
              </a:rPr>
              <a:t> </a:t>
            </a:r>
            <a:r>
              <a:rPr lang="en-US" altLang="ko-KR" sz="4000" b="1" dirty="0" smtClean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4000" b="1" dirty="0" smtClean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4000" b="1" dirty="0" smtClean="0">
                <a:latin typeface="A2Z 3 Light" pitchFamily="2" charset="-127"/>
                <a:ea typeface="A2Z 3 Light" pitchFamily="2" charset="-127"/>
              </a:rPr>
              <a:t>PPO </a:t>
            </a:r>
            <a:r>
              <a:rPr lang="ko-KR" altLang="ko-KR" sz="4000" b="1" dirty="0">
                <a:latin typeface="A2Z 3 Light" pitchFamily="2" charset="-127"/>
                <a:ea typeface="A2Z 3 Light" pitchFamily="2" charset="-127"/>
              </a:rPr>
              <a:t>기반 </a:t>
            </a:r>
            <a:r>
              <a:rPr lang="ko-KR" altLang="ko-KR" sz="3100" b="1" dirty="0" err="1">
                <a:latin typeface="A2Z 3 Light" pitchFamily="2" charset="-127"/>
                <a:ea typeface="A2Z 3 Light" pitchFamily="2" charset="-127"/>
              </a:rPr>
              <a:t>강화학습</a:t>
            </a:r>
            <a:r>
              <a:rPr lang="ko-KR" altLang="ko-KR" sz="3100" b="1" dirty="0">
                <a:latin typeface="A2Z 3 Light" pitchFamily="2" charset="-127"/>
                <a:ea typeface="A2Z 3 Light" pitchFamily="2" charset="-127"/>
              </a:rPr>
              <a:t> 에이전트의 </a:t>
            </a:r>
            <a:r>
              <a:rPr lang="en-US" altLang="ko-KR" sz="3600" b="1" dirty="0" smtClean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3600" b="1" dirty="0" smtClean="0">
                <a:latin typeface="A2Z 3 Light" pitchFamily="2" charset="-127"/>
                <a:ea typeface="A2Z 3 Light" pitchFamily="2" charset="-127"/>
              </a:rPr>
            </a:br>
            <a:r>
              <a:rPr lang="ko-KR" altLang="ko-KR" sz="3100" b="1" dirty="0" smtClean="0">
                <a:latin typeface="A2Z 3 Light" pitchFamily="2" charset="-127"/>
                <a:ea typeface="A2Z 3 Light" pitchFamily="2" charset="-127"/>
              </a:rPr>
              <a:t>비트코인 </a:t>
            </a:r>
            <a:r>
              <a:rPr lang="ko-KR" altLang="ko-KR" sz="3100" b="1" dirty="0">
                <a:latin typeface="A2Z 3 Light" pitchFamily="2" charset="-127"/>
                <a:ea typeface="A2Z 3 Light" pitchFamily="2" charset="-127"/>
              </a:rPr>
              <a:t>트레이딩 전략 학습 및 행동 패턴 </a:t>
            </a:r>
            <a:r>
              <a:rPr lang="ko-KR" altLang="ko-KR" sz="3100" b="1" dirty="0" smtClean="0">
                <a:latin typeface="A2Z 3 Light" pitchFamily="2" charset="-127"/>
                <a:ea typeface="A2Z 3 Light" pitchFamily="2" charset="-127"/>
              </a:rPr>
              <a:t>분석</a:t>
            </a:r>
            <a:endParaRPr lang="ko-KR" altLang="ko-KR" sz="3100" dirty="0">
              <a:latin typeface="A2Z 3 Light" pitchFamily="2" charset="-127"/>
              <a:ea typeface="A2Z 3 Light" pitchFamily="2" charset="-12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705D9-2B11-907B-234A-4F8E01FCB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252" y="5612162"/>
            <a:ext cx="9144000" cy="1655762"/>
          </a:xfrm>
        </p:spPr>
        <p:txBody>
          <a:bodyPr/>
          <a:lstStyle/>
          <a:p>
            <a:r>
              <a:rPr lang="en-US" dirty="0">
                <a:latin typeface="A2Z 5 Medium" pitchFamily="2" charset="-127"/>
                <a:ea typeface="A2Z 5 Medium" pitchFamily="2" charset="-127"/>
              </a:rPr>
              <a:t>21101215 </a:t>
            </a:r>
            <a:r>
              <a:rPr lang="ko-KR" altLang="en-US" dirty="0">
                <a:latin typeface="A2Z 5 Medium" pitchFamily="2" charset="-127"/>
                <a:ea typeface="A2Z 5 Medium" pitchFamily="2" charset="-127"/>
              </a:rPr>
              <a:t>이찬희</a:t>
            </a:r>
            <a:endParaRPr lang="en-US" dirty="0">
              <a:latin typeface="A2Z 5 Medium" pitchFamily="2" charset="-127"/>
              <a:ea typeface="A2Z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963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5AB6-7C4D-9721-AF22-77C07D6F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FFBB-2660-A903-4537-8AA2E4DEB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1413" y="721569"/>
            <a:ext cx="3022092" cy="5805568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altLang="ko-KR" sz="2800" b="1" dirty="0" smtClean="0">
                <a:latin typeface="A2Z 3 Light" pitchFamily="2" charset="-127"/>
                <a:ea typeface="A2Z 3 Light" pitchFamily="2" charset="-127"/>
              </a:rPr>
              <a:t>Contents</a:t>
            </a:r>
            <a:r>
              <a:rPr lang="ko-KR" altLang="en-US" sz="32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ko-KR" altLang="en-US" sz="3200" dirty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>1. </a:t>
            </a:r>
            <a:r>
              <a:rPr lang="ko-KR" altLang="en-US" sz="3200" dirty="0" smtClean="0">
                <a:latin typeface="A2Z 3 Light" pitchFamily="2" charset="-127"/>
                <a:ea typeface="A2Z 3 Light" pitchFamily="2" charset="-127"/>
              </a:rPr>
              <a:t>선행 연구 </a:t>
            </a: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3200" dirty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>2. </a:t>
            </a:r>
            <a:r>
              <a:rPr lang="ko-KR" altLang="en-US" sz="3200" dirty="0" err="1" smtClean="0">
                <a:latin typeface="A2Z 3 Light" pitchFamily="2" charset="-127"/>
                <a:ea typeface="A2Z 3 Light" pitchFamily="2" charset="-127"/>
              </a:rPr>
              <a:t>차별점</a:t>
            </a:r>
            <a:r>
              <a:rPr lang="ko-KR" altLang="en-US" sz="3200" dirty="0" smtClean="0">
                <a:latin typeface="A2Z 3 Light" pitchFamily="2" charset="-127"/>
                <a:ea typeface="A2Z 3 Light" pitchFamily="2" charset="-127"/>
              </a:rPr>
              <a:t> </a:t>
            </a: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3200" dirty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>3. </a:t>
            </a:r>
            <a:r>
              <a:rPr lang="ko-KR" altLang="en-US" sz="3200" dirty="0" smtClean="0">
                <a:latin typeface="A2Z 3 Light" pitchFamily="2" charset="-127"/>
                <a:ea typeface="A2Z 3 Light" pitchFamily="2" charset="-127"/>
              </a:rPr>
              <a:t>실험 설계 </a:t>
            </a: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3200" dirty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>4. </a:t>
            </a:r>
            <a:r>
              <a:rPr lang="ko-KR" altLang="en-US" sz="3200" dirty="0" smtClean="0">
                <a:latin typeface="A2Z 3 Light" pitchFamily="2" charset="-127"/>
                <a:ea typeface="A2Z 3 Light" pitchFamily="2" charset="-127"/>
              </a:rPr>
              <a:t>예정 사항 </a:t>
            </a:r>
            <a:r>
              <a:rPr lang="en-US" altLang="ko-KR" sz="32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3200" dirty="0">
                <a:latin typeface="A2Z 3 Light" pitchFamily="2" charset="-127"/>
                <a:ea typeface="A2Z 3 Light" pitchFamily="2" charset="-127"/>
              </a:rPr>
            </a:br>
            <a:endParaRPr lang="en-US" sz="3200" dirty="0">
              <a:latin typeface="A2Z 3 Light" pitchFamily="2" charset="-127"/>
              <a:ea typeface="A2Z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52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BBBC-2A19-D08D-8E5A-1EFA4AF4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4BDBFB0-1CF0-97CD-04A5-AADEB615C555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1. 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선행 연구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58830"/>
              </p:ext>
            </p:extLst>
          </p:nvPr>
        </p:nvGraphicFramePr>
        <p:xfrm>
          <a:off x="1064727" y="1502681"/>
          <a:ext cx="10362163" cy="4619391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404645">
                  <a:extLst>
                    <a:ext uri="{9D8B030D-6E8A-4147-A177-3AD203B41FA5}">
                      <a16:colId xmlns:a16="http://schemas.microsoft.com/office/drawing/2014/main" val="15456491"/>
                    </a:ext>
                  </a:extLst>
                </a:gridCol>
                <a:gridCol w="1800201">
                  <a:extLst>
                    <a:ext uri="{9D8B030D-6E8A-4147-A177-3AD203B41FA5}">
                      <a16:colId xmlns:a16="http://schemas.microsoft.com/office/drawing/2014/main" val="2193886282"/>
                    </a:ext>
                  </a:extLst>
                </a:gridCol>
                <a:gridCol w="5566776">
                  <a:extLst>
                    <a:ext uri="{9D8B030D-6E8A-4147-A177-3AD203B41FA5}">
                      <a16:colId xmlns:a16="http://schemas.microsoft.com/office/drawing/2014/main" val="4167690700"/>
                    </a:ext>
                  </a:extLst>
                </a:gridCol>
                <a:gridCol w="2590541">
                  <a:extLst>
                    <a:ext uri="{9D8B030D-6E8A-4147-A177-3AD203B41FA5}">
                      <a16:colId xmlns:a16="http://schemas.microsoft.com/office/drawing/2014/main" val="220979100"/>
                    </a:ext>
                  </a:extLst>
                </a:gridCol>
              </a:tblGrid>
              <a:tr h="3447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#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latin typeface="Gowun Batang" pitchFamily="2" charset="-127"/>
                          <a:ea typeface="Gowun Batang" pitchFamily="2" charset="-127"/>
                        </a:rPr>
                        <a:t>저자</a:t>
                      </a:r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/</a:t>
                      </a:r>
                      <a:r>
                        <a:rPr lang="ko-KR" altLang="en-US" sz="1100" dirty="0">
                          <a:latin typeface="Gowun Batang" pitchFamily="2" charset="-127"/>
                          <a:ea typeface="Gowun Batang" pitchFamily="2" charset="-127"/>
                        </a:rPr>
                        <a:t>연도 표기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latin typeface="Gowun Batang" pitchFamily="2" charset="-127"/>
                          <a:ea typeface="Gowun Batang" pitchFamily="2" charset="-127"/>
                        </a:rPr>
                        <a:t>논문 제목</a:t>
                      </a:r>
                    </a:p>
                  </a:txBody>
                  <a:tcPr marL="26533" marR="26533" marT="13266" marB="1326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latin typeface="Gowun Batang" pitchFamily="2" charset="-127"/>
                          <a:ea typeface="Gowun Batang" pitchFamily="2" charset="-127"/>
                        </a:rPr>
                        <a:t>게재처</a:t>
                      </a:r>
                      <a:endParaRPr lang="ko-KR" altLang="en-US" sz="1100" dirty="0">
                        <a:latin typeface="Gowun Batang" pitchFamily="2" charset="-127"/>
                        <a:ea typeface="Gowun Batang" pitchFamily="2" charset="-127"/>
                      </a:endParaRPr>
                    </a:p>
                  </a:txBody>
                  <a:tcPr marL="26533" marR="26533" marT="13266" marB="1326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829596"/>
                  </a:ext>
                </a:extLst>
              </a:tr>
              <a:tr h="3941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1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Sun et al. (2023)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Reinforcement Learning for Quantitative Trading</a:t>
                      </a:r>
                    </a:p>
                  </a:txBody>
                  <a:tcPr marL="26533" marR="26533" marT="13266" marB="1326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Gowun Batang" pitchFamily="2" charset="-127"/>
                          <a:ea typeface="Gowun Batang" pitchFamily="2" charset="-127"/>
                        </a:rPr>
                        <a:t>ACM Transactions on Intelligent Systems and Technology</a:t>
                      </a:r>
                    </a:p>
                  </a:txBody>
                  <a:tcPr marL="26533" marR="26533" marT="13266" marB="1326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609501"/>
                  </a:ext>
                </a:extLst>
              </a:tr>
              <a:tr h="46244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2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Gowun Batang" pitchFamily="2" charset="-127"/>
                          <a:ea typeface="Gowun Batang" pitchFamily="2" charset="-127"/>
                        </a:rPr>
                        <a:t>Yasin</a:t>
                      </a:r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 &amp; Gill (2024)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Reinforcement Learning Framework for Quantitative Trading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arXiv:2411.07585, ICAIF 2024 Workshop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53802"/>
                  </a:ext>
                </a:extLst>
              </a:tr>
              <a:tr h="70115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3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Liu H.Y.T. (2025)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How Do Reinforcement Learning Algorithms Optimize Trading Strategies in Financial Markets Compared to Traditional Trading Approaches? A Literature Review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Advances in Economics, Management and Political Sciences (AEMPS), Vol.208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701344"/>
                  </a:ext>
                </a:extLst>
              </a:tr>
              <a:tr h="6358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4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Liu et al. (2021)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Bitcoin Transaction Strategy Construction Based on Deep Reinforcement Learning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Gowun Batang" pitchFamily="2" charset="-127"/>
                          <a:ea typeface="Gowun Batang" pitchFamily="2" charset="-127"/>
                        </a:rPr>
                        <a:t>Applied Soft Computing, Vol.113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800978"/>
                  </a:ext>
                </a:extLst>
              </a:tr>
              <a:tr h="80928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5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Gowun Batang" pitchFamily="2" charset="-127"/>
                          <a:ea typeface="Gowun Batang" pitchFamily="2" charset="-127"/>
                        </a:rPr>
                        <a:t>Gort</a:t>
                      </a:r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 et al. (2022)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Deep Reinforcement Learning for Cryptocurrency Trading: Practical Approach to Address </a:t>
                      </a:r>
                      <a:r>
                        <a:rPr lang="en-US" sz="1100" dirty="0" err="1">
                          <a:latin typeface="Gowun Batang" pitchFamily="2" charset="-127"/>
                          <a:ea typeface="Gowun Batang" pitchFamily="2" charset="-127"/>
                        </a:rPr>
                        <a:t>Backtest</a:t>
                      </a:r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 Overfitting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Gowun Batang" pitchFamily="2" charset="-127"/>
                          <a:ea typeface="Gowun Batang" pitchFamily="2" charset="-127"/>
                        </a:rPr>
                        <a:t>arXiv:2209.05559, AAAI 2022 Workshop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80811"/>
                  </a:ext>
                </a:extLst>
              </a:tr>
              <a:tr h="7225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6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Pham et al. (2025)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Applying Reinforcement Learning in Bitcoin Trading to Select Technical Strategies Based on Deep Q-Network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Cogent Economics &amp; Finance, Vol.13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92166"/>
                  </a:ext>
                </a:extLst>
              </a:tr>
              <a:tr h="54915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latin typeface="Gowun Batang" pitchFamily="2" charset="-127"/>
                          <a:ea typeface="Gowun Batang" pitchFamily="2" charset="-127"/>
                        </a:rPr>
                        <a:t>7</a:t>
                      </a:r>
                    </a:p>
                  </a:txBody>
                  <a:tcPr marL="26533" marR="26533" marT="13266" marB="13266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Gowun Batang" pitchFamily="2" charset="-127"/>
                          <a:ea typeface="Gowun Batang" pitchFamily="2" charset="-127"/>
                        </a:rPr>
                        <a:t>Bandarupalli</a:t>
                      </a:r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 (2025)</a:t>
                      </a:r>
                    </a:p>
                  </a:txBody>
                  <a:tcPr marL="26533" marR="26533" marT="13266" marB="1326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Gowun Batang" pitchFamily="2" charset="-127"/>
                          <a:ea typeface="Gowun Batang" pitchFamily="2" charset="-127"/>
                        </a:rPr>
                        <a:t>Risk-Aware Deep Reinforcement Learning for Crypto and Equity Trading Under Transaction Costs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owun Batang" pitchFamily="2" charset="-127"/>
                          <a:ea typeface="Gowun Batang" pitchFamily="2" charset="-127"/>
                        </a:rPr>
                        <a:t>SSRN Preprint</a:t>
                      </a:r>
                    </a:p>
                  </a:txBody>
                  <a:tcPr marL="26533" marR="26533" marT="13266" marB="1326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51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64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2B920-C5F0-DA9F-9BF7-2AE81FAA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D6F8-AF84-50C4-0BAA-25726F796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8972" y="4223657"/>
            <a:ext cx="10354056" cy="176566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 smtClean="0">
                <a:latin typeface="Gowun Batang" pitchFamily="2" charset="-127"/>
                <a:ea typeface="Gowun Batang" pitchFamily="2" charset="-127"/>
              </a:rPr>
              <a:t>(</a:t>
            </a:r>
            <a:r>
              <a:rPr lang="ko-KR" altLang="ko-KR" sz="1600" dirty="0" smtClean="0">
                <a:latin typeface="Gowun Batang" pitchFamily="2" charset="-127"/>
                <a:ea typeface="Gowun Batang" pitchFamily="2" charset="-127"/>
              </a:rPr>
              <a:t>설계 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반영</a:t>
            </a:r>
            <a:r>
              <a:rPr lang="en-US" altLang="ko-KR" sz="1600" dirty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en-US" altLang="ko-KR" sz="1600" dirty="0" smtClean="0">
                <a:latin typeface="Gowun Batang" pitchFamily="2" charset="-127"/>
                <a:ea typeface="Gowun Batang" pitchFamily="2" charset="-127"/>
              </a:rPr>
              <a:t>)</a:t>
            </a:r>
            <a:r>
              <a:rPr lang="en-US" altLang="ko-KR" sz="1600" dirty="0">
                <a:latin typeface="Gowun Batang" pitchFamily="2" charset="-127"/>
                <a:ea typeface="Gowun Batang" pitchFamily="2" charset="-127"/>
              </a:rPr>
              <a:t/>
            </a:r>
            <a:br>
              <a:rPr lang="en-US" altLang="ko-KR" sz="1600" dirty="0">
                <a:latin typeface="Gowun Batang" pitchFamily="2" charset="-127"/>
                <a:ea typeface="Gowun Batang" pitchFamily="2" charset="-127"/>
              </a:rPr>
            </a:br>
            <a:r>
              <a:rPr lang="en-US" altLang="ko-KR" sz="1600" dirty="0" err="1" smtClean="0">
                <a:latin typeface="Gowun Batang" pitchFamily="2" charset="-127"/>
                <a:ea typeface="Gowun Batang" pitchFamily="2" charset="-127"/>
              </a:rPr>
              <a:t>Gort</a:t>
            </a:r>
            <a:r>
              <a:rPr lang="en-US" altLang="ko-KR" sz="1600" dirty="0" smtClean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en-US" altLang="ko-KR" sz="1600" dirty="0">
                <a:latin typeface="Gowun Batang" pitchFamily="2" charset="-127"/>
                <a:ea typeface="Gowun Batang" pitchFamily="2" charset="-127"/>
              </a:rPr>
              <a:t>et al.(2022)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은</a:t>
            </a:r>
            <a:r>
              <a:rPr lang="en-US" altLang="ko-KR" sz="1600" dirty="0">
                <a:latin typeface="Gowun Batang" pitchFamily="2" charset="-127"/>
                <a:ea typeface="Gowun Batang" pitchFamily="2" charset="-127"/>
              </a:rPr>
              <a:t> DRL 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트레이딩 연구 대부분이 </a:t>
            </a:r>
            <a:r>
              <a:rPr lang="ko-KR" altLang="ko-KR" sz="1600" b="1" dirty="0">
                <a:latin typeface="Gowun Batang" pitchFamily="2" charset="-127"/>
                <a:ea typeface="Gowun Batang" pitchFamily="2" charset="-127"/>
              </a:rPr>
              <a:t>단일 </a:t>
            </a:r>
            <a:r>
              <a:rPr lang="ko-KR" altLang="ko-KR" sz="1600" b="1" dirty="0" err="1">
                <a:latin typeface="Gowun Batang" pitchFamily="2" charset="-127"/>
                <a:ea typeface="Gowun Batang" pitchFamily="2" charset="-127"/>
              </a:rPr>
              <a:t>검증셋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 사용으로 </a:t>
            </a:r>
            <a:r>
              <a:rPr lang="ko-KR" altLang="ko-KR" sz="1600" dirty="0" err="1">
                <a:latin typeface="Gowun Batang" pitchFamily="2" charset="-127"/>
                <a:ea typeface="Gowun Batang" pitchFamily="2" charset="-127"/>
              </a:rPr>
              <a:t>백테스트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ko-KR" altLang="ko-KR" sz="1600" dirty="0" err="1">
                <a:latin typeface="Gowun Batang" pitchFamily="2" charset="-127"/>
                <a:ea typeface="Gowun Batang" pitchFamily="2" charset="-127"/>
              </a:rPr>
              <a:t>과적합을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ko-KR" altLang="ko-KR" sz="1600" dirty="0" smtClean="0">
                <a:latin typeface="Gowun Batang" pitchFamily="2" charset="-127"/>
                <a:ea typeface="Gowun Batang" pitchFamily="2" charset="-127"/>
              </a:rPr>
              <a:t>보고</a:t>
            </a:r>
            <a:r>
              <a:rPr lang="ko-KR" altLang="en-US" sz="1600" dirty="0" smtClean="0">
                <a:latin typeface="Gowun Batang" pitchFamily="2" charset="-127"/>
                <a:ea typeface="Gowun Batang" pitchFamily="2" charset="-127"/>
              </a:rPr>
              <a:t>하였다</a:t>
            </a:r>
            <a:r>
              <a:rPr lang="en-US" altLang="ko-KR" sz="1600" dirty="0" smtClean="0">
                <a:latin typeface="Gowun Batang" pitchFamily="2" charset="-127"/>
                <a:ea typeface="Gowun Batang" pitchFamily="2" charset="-127"/>
              </a:rPr>
              <a:t>. </a:t>
            </a:r>
            <a:br>
              <a:rPr lang="en-US" altLang="ko-KR" sz="1600" dirty="0" smtClean="0">
                <a:latin typeface="Gowun Batang" pitchFamily="2" charset="-127"/>
                <a:ea typeface="Gowun Batang" pitchFamily="2" charset="-127"/>
              </a:rPr>
            </a:br>
            <a:r>
              <a:rPr lang="ko-KR" altLang="ko-KR" sz="1600" dirty="0" smtClean="0">
                <a:latin typeface="Gowun Batang" pitchFamily="2" charset="-127"/>
                <a:ea typeface="Gowun Batang" pitchFamily="2" charset="-127"/>
              </a:rPr>
              <a:t>본 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연구는 이를 반영하여 </a:t>
            </a:r>
            <a:r>
              <a:rPr lang="ko-KR" altLang="ko-KR" sz="1600" dirty="0" err="1">
                <a:latin typeface="Gowun Batang" pitchFamily="2" charset="-127"/>
                <a:ea typeface="Gowun Batang" pitchFamily="2" charset="-127"/>
              </a:rPr>
              <a:t>테스트셋을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 학습 전 과정에서 봉인하고 </a:t>
            </a:r>
            <a:r>
              <a:rPr lang="ko-KR" altLang="ko-KR" sz="1600" b="1" dirty="0">
                <a:latin typeface="Gowun Batang" pitchFamily="2" charset="-127"/>
                <a:ea typeface="Gowun Batang" pitchFamily="2" charset="-127"/>
              </a:rPr>
              <a:t>다양한 시장 </a:t>
            </a:r>
            <a:r>
              <a:rPr lang="ko-KR" altLang="ko-KR" sz="1600" b="1" dirty="0" err="1">
                <a:latin typeface="Gowun Batang" pitchFamily="2" charset="-127"/>
                <a:ea typeface="Gowun Batang" pitchFamily="2" charset="-127"/>
              </a:rPr>
              <a:t>레짐에</a:t>
            </a:r>
            <a:r>
              <a:rPr lang="ko-KR" altLang="ko-KR" sz="1600" b="1" dirty="0">
                <a:latin typeface="Gowun Batang" pitchFamily="2" charset="-127"/>
                <a:ea typeface="Gowun Batang" pitchFamily="2" charset="-127"/>
              </a:rPr>
              <a:t> 걸친 검증 구간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>을 </a:t>
            </a:r>
            <a:r>
              <a:rPr lang="ko-KR" altLang="ko-KR" sz="1600" dirty="0" smtClean="0">
                <a:latin typeface="Gowun Batang" pitchFamily="2" charset="-127"/>
                <a:ea typeface="Gowun Batang" pitchFamily="2" charset="-127"/>
              </a:rPr>
              <a:t>설계</a:t>
            </a:r>
            <a:r>
              <a:rPr lang="ko-KR" altLang="en-US" sz="1600" dirty="0" smtClean="0">
                <a:latin typeface="Gowun Batang" pitchFamily="2" charset="-127"/>
                <a:ea typeface="Gowun Batang" pitchFamily="2" charset="-127"/>
              </a:rPr>
              <a:t>한다</a:t>
            </a:r>
            <a:r>
              <a:rPr lang="en-US" altLang="ko-KR" sz="1600" dirty="0" smtClean="0">
                <a:latin typeface="Gowun Batang" pitchFamily="2" charset="-127"/>
                <a:ea typeface="Gowun Batang" pitchFamily="2" charset="-127"/>
              </a:rPr>
              <a:t>.</a:t>
            </a:r>
            <a:r>
              <a:rPr lang="ko-KR" altLang="ko-KR" sz="1600" dirty="0">
                <a:latin typeface="Gowun Batang" pitchFamily="2" charset="-127"/>
                <a:ea typeface="Gowun Batang" pitchFamily="2" charset="-127"/>
              </a:rPr>
              <a:t/>
            </a:r>
            <a:br>
              <a:rPr lang="ko-KR" altLang="ko-KR" sz="1600" dirty="0">
                <a:latin typeface="Gowun Batang" pitchFamily="2" charset="-127"/>
                <a:ea typeface="Gowun Batang" pitchFamily="2" charset="-127"/>
              </a:rPr>
            </a:br>
            <a:endParaRPr lang="en-US" sz="900" u="sng" dirty="0">
              <a:latin typeface="Gowun Batang" pitchFamily="2" charset="-127"/>
              <a:ea typeface="Gowun Batang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77C55-012D-1122-7DB3-D75DA19A8080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2</a:t>
            </a:r>
            <a:r>
              <a:rPr lang="en-US" altLang="ko-KR" sz="3200" b="1" dirty="0" smtClean="0">
                <a:latin typeface="A2Z 6 SemiBold" pitchFamily="2" charset="-127"/>
                <a:ea typeface="A2Z 6 SemiBold" pitchFamily="2" charset="-127"/>
              </a:rPr>
              <a:t>. </a:t>
            </a:r>
            <a:r>
              <a:rPr lang="ko-KR" altLang="en-US" sz="3200" b="1" dirty="0" err="1" smtClean="0">
                <a:latin typeface="A2Z 6 SemiBold" pitchFamily="2" charset="-127"/>
                <a:ea typeface="A2Z 6 SemiBold" pitchFamily="2" charset="-127"/>
              </a:rPr>
              <a:t>차별점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476995"/>
              </p:ext>
            </p:extLst>
          </p:nvPr>
        </p:nvGraphicFramePr>
        <p:xfrm>
          <a:off x="994005" y="1508840"/>
          <a:ext cx="10557292" cy="248829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56362">
                  <a:extLst>
                    <a:ext uri="{9D8B030D-6E8A-4147-A177-3AD203B41FA5}">
                      <a16:colId xmlns:a16="http://schemas.microsoft.com/office/drawing/2014/main" val="2024474716"/>
                    </a:ext>
                  </a:extLst>
                </a:gridCol>
                <a:gridCol w="2656115">
                  <a:extLst>
                    <a:ext uri="{9D8B030D-6E8A-4147-A177-3AD203B41FA5}">
                      <a16:colId xmlns:a16="http://schemas.microsoft.com/office/drawing/2014/main" val="2109577208"/>
                    </a:ext>
                  </a:extLst>
                </a:gridCol>
                <a:gridCol w="2637453">
                  <a:extLst>
                    <a:ext uri="{9D8B030D-6E8A-4147-A177-3AD203B41FA5}">
                      <a16:colId xmlns:a16="http://schemas.microsoft.com/office/drawing/2014/main" val="2278345870"/>
                    </a:ext>
                  </a:extLst>
                </a:gridCol>
                <a:gridCol w="3707362">
                  <a:extLst>
                    <a:ext uri="{9D8B030D-6E8A-4147-A177-3AD203B41FA5}">
                      <a16:colId xmlns:a16="http://schemas.microsoft.com/office/drawing/2014/main" val="3432837668"/>
                    </a:ext>
                  </a:extLst>
                </a:gridCol>
              </a:tblGrid>
              <a:tr h="33505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 smtClean="0">
                          <a:latin typeface="A2Z 3 Light" pitchFamily="2" charset="-127"/>
                          <a:ea typeface="A2Z 3 Light" pitchFamily="2" charset="-127"/>
                        </a:rPr>
                        <a:t>논문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방법론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한계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본 연구와의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차별점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299389"/>
                  </a:ext>
                </a:extLst>
              </a:tr>
              <a:tr h="5634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Liu et al. (2021)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PPO + LSTM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가격예측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→ state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입력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>
                          <a:latin typeface="A2Z 3 Light" pitchFamily="2" charset="-127"/>
                          <a:ea typeface="A2Z 3 Light" pitchFamily="2" charset="-127"/>
                        </a:rPr>
                        <a:t>예측 오류가 트레이딩 결정에 전파되는</a:t>
                      </a:r>
                      <a:r>
                        <a:rPr lang="en-US" sz="1100" b="0" kern="1200">
                          <a:latin typeface="A2Z 3 Light" pitchFamily="2" charset="-127"/>
                          <a:ea typeface="A2Z 3 Light" pitchFamily="2" charset="-127"/>
                        </a:rPr>
                        <a:t> 2</a:t>
                      </a:r>
                      <a:r>
                        <a:rPr lang="ko-KR" sz="1100" b="0" kern="1200">
                          <a:latin typeface="A2Z 3 Light" pitchFamily="2" charset="-127"/>
                          <a:ea typeface="A2Z 3 Light" pitchFamily="2" charset="-127"/>
                        </a:rPr>
                        <a:t>단계 파이프라인</a:t>
                      </a:r>
                      <a:endParaRPr lang="ko-KR" sz="1100" b="0" kern="120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A2Z 3 Light" pitchFamily="2" charset="-127"/>
                          <a:ea typeface="A2Z 3 Light" pitchFamily="2" charset="-127"/>
                        </a:rPr>
                        <a:t>예측 단계 완전 제거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현재 기술지표에만 반응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42153"/>
                  </a:ext>
                </a:extLst>
              </a:tr>
              <a:tr h="5535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Yasin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&amp; Gill (2024)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DQN/PPO/A2C +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기술지표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20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개 비교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홀드 행동 없음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현재 포지션 미포함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과매매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억제 불가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A2Z 3 Light" pitchFamily="2" charset="-127"/>
                          <a:ea typeface="A2Z 3 Light" pitchFamily="2" charset="-127"/>
                        </a:rPr>
                        <a:t>홀드를 명시적 행동으로 포함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현재 포지션을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state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에 반영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151389"/>
                  </a:ext>
                </a:extLst>
              </a:tr>
              <a:tr h="56976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Pham et al. (2025)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DQN + 5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개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사전정의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전략 선택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매수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/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매도 조건이 전략 내부에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하드코딩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PCA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로 지표 원형 손실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전략 없이 매수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/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매도 </a:t>
                      </a:r>
                      <a:r>
                        <a:rPr lang="ko-KR" sz="11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A2Z 3 Light" pitchFamily="2" charset="-127"/>
                          <a:ea typeface="A2Z 3 Light" pitchFamily="2" charset="-127"/>
                        </a:rPr>
                        <a:t>직접 학습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기술지표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원형 유지로 행동 분석 가능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640359"/>
                  </a:ext>
                </a:extLst>
              </a:tr>
              <a:tr h="46656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Bandarupalli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(2025)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PPO +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변동성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패널티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+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거래비용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과도한 리스크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패널티로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수익 기회 억제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Buy-and-Hold 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하회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변동성 </a:t>
                      </a:r>
                      <a:r>
                        <a:rPr lang="ko-KR" sz="1100" b="0" kern="1200" dirty="0" err="1">
                          <a:latin typeface="A2Z 3 Light" pitchFamily="2" charset="-127"/>
                          <a:ea typeface="A2Z 3 Light" pitchFamily="2" charset="-127"/>
                        </a:rPr>
                        <a:t>패널티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 제외</a:t>
                      </a:r>
                      <a:r>
                        <a:rPr lang="en-US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1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A2Z 3 Light" pitchFamily="2" charset="-127"/>
                          <a:ea typeface="A2Z 3 Light" pitchFamily="2" charset="-127"/>
                        </a:rPr>
                        <a:t>거래비용 </a:t>
                      </a:r>
                      <a:r>
                        <a:rPr lang="ko-KR" sz="1100" b="1" kern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A2Z 3 Light" pitchFamily="2" charset="-127"/>
                          <a:ea typeface="A2Z 3 Light" pitchFamily="2" charset="-127"/>
                        </a:rPr>
                        <a:t>패널티만</a:t>
                      </a:r>
                      <a:r>
                        <a:rPr lang="ko-KR" sz="11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A2Z 3 Light" pitchFamily="2" charset="-127"/>
                          <a:ea typeface="A2Z 3 Light" pitchFamily="2" charset="-127"/>
                        </a:rPr>
                        <a:t> 포함</a:t>
                      </a:r>
                      <a:r>
                        <a:rPr lang="ko-KR" sz="1100" b="0" kern="1200" dirty="0">
                          <a:latin typeface="A2Z 3 Light" pitchFamily="2" charset="-127"/>
                          <a:ea typeface="A2Z 3 Light" pitchFamily="2" charset="-127"/>
                        </a:rPr>
                        <a:t>하여 수익 억제 리스크 완화</a:t>
                      </a:r>
                      <a:endParaRPr lang="ko-KR" sz="1100" b="0" kern="1200" dirty="0">
                        <a:solidFill>
                          <a:schemeClr val="tx1"/>
                        </a:solidFill>
                        <a:latin typeface="A2Z 3 Light" pitchFamily="2" charset="-127"/>
                        <a:ea typeface="A2Z 3 Light" pitchFamily="2" charset="-127"/>
                        <a:cs typeface="+mn-cs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4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66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2C14-0FD7-D1BC-7C96-FE26475B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9CD6-6C34-FD6C-44EC-6D6395764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544" y="1861257"/>
            <a:ext cx="10354056" cy="4443983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b="1" dirty="0" smtClean="0">
                <a:latin typeface="A2Z 3 Light" pitchFamily="2" charset="-127"/>
                <a:ea typeface="A2Z 3 Light" pitchFamily="2" charset="-127"/>
              </a:rPr>
              <a:t>1. </a:t>
            </a:r>
            <a:r>
              <a:rPr lang="ko-KR" altLang="ko-KR" sz="2400" dirty="0" smtClean="0">
                <a:latin typeface="A2Z 3 Light" pitchFamily="2" charset="-127"/>
                <a:ea typeface="A2Z 3 Light" pitchFamily="2" charset="-127"/>
              </a:rPr>
              <a:t>가격 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예측 단계를 완전히 제거하고 현재 기술지표에만 반응하는 구조다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. </a:t>
            </a: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    Liu 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et al.(2021)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의 예측 의존 파이프라인과 구별된다</a:t>
            </a: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.</a:t>
            </a:r>
            <a:b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</a:b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ko-KR" altLang="ko-KR" sz="2400" dirty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2. </a:t>
            </a:r>
            <a:r>
              <a:rPr lang="ko-KR" altLang="ko-KR" sz="2400" dirty="0" smtClean="0">
                <a:latin typeface="A2Z 3 Light" pitchFamily="2" charset="-127"/>
                <a:ea typeface="A2Z 3 Light" pitchFamily="2" charset="-127"/>
              </a:rPr>
              <a:t>사전 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정의된 전략 없이 에이전트가 매수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·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매도 조건을 직접 학습한다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. </a:t>
            </a: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    Pham 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et al.(2025)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의 메타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-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전략 선택 구조와 구별된다</a:t>
            </a: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.</a:t>
            </a:r>
            <a:b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</a:b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ko-KR" altLang="ko-KR" sz="2400" dirty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3. </a:t>
            </a:r>
            <a:r>
              <a:rPr lang="ko-KR" altLang="ko-KR" sz="2400" dirty="0" err="1" smtClean="0">
                <a:latin typeface="A2Z 3 Light" pitchFamily="2" charset="-127"/>
                <a:ea typeface="A2Z 3 Light" pitchFamily="2" charset="-127"/>
              </a:rPr>
              <a:t>기술지표를</a:t>
            </a: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 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PCA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로 변환하지 않고 원형 그대로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 state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로 유지한다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. </a:t>
            </a: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</a:br>
            <a:r>
              <a:rPr lang="en-US" altLang="ko-KR" sz="2400" dirty="0" smtClean="0">
                <a:latin typeface="A2Z 3 Light" pitchFamily="2" charset="-127"/>
                <a:ea typeface="A2Z 3 Light" pitchFamily="2" charset="-127"/>
              </a:rPr>
              <a:t>    </a:t>
            </a:r>
            <a:r>
              <a:rPr lang="ko-KR" altLang="ko-KR" sz="2400" dirty="0" smtClean="0">
                <a:latin typeface="A2Z 3 Light" pitchFamily="2" charset="-127"/>
                <a:ea typeface="A2Z 3 Light" pitchFamily="2" charset="-127"/>
              </a:rPr>
              <a:t>학습 </a:t>
            </a:r>
            <a:r>
              <a:rPr lang="ko-KR" altLang="ko-KR" sz="2400" dirty="0">
                <a:latin typeface="A2Z 3 Light" pitchFamily="2" charset="-127"/>
                <a:ea typeface="A2Z 3 Light" pitchFamily="2" charset="-127"/>
              </a:rPr>
              <a:t>후 에이전트가 어떤 지표 상태에서 어떤 행동을 했는지 분석 가능하다</a:t>
            </a:r>
            <a:r>
              <a:rPr lang="en-US" altLang="ko-KR" sz="2400" dirty="0">
                <a:latin typeface="A2Z 3 Light" pitchFamily="2" charset="-127"/>
                <a:ea typeface="A2Z 3 Light" pitchFamily="2" charset="-127"/>
              </a:rPr>
              <a:t>.</a:t>
            </a:r>
            <a:endParaRPr lang="ko-KR" altLang="ko-KR" sz="2400" dirty="0">
              <a:latin typeface="A2Z 3 Light" pitchFamily="2" charset="-127"/>
              <a:ea typeface="A2Z 3 Light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9E5AB-03BB-BCCD-93FA-239EDDB52614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2. </a:t>
            </a:r>
            <a:r>
              <a:rPr lang="ko-KR" altLang="en-US" sz="3200" b="1" dirty="0" err="1" smtClean="0">
                <a:latin typeface="A2Z 6 SemiBold" pitchFamily="2" charset="-127"/>
                <a:ea typeface="A2Z 6 SemiBold" pitchFamily="2" charset="-127"/>
              </a:rPr>
              <a:t>차별점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 </a:t>
            </a:r>
            <a:r>
              <a:rPr lang="en-US" altLang="ko-KR" sz="3200" b="1" dirty="0" smtClean="0">
                <a:latin typeface="A2Z 6 SemiBold" pitchFamily="2" charset="-127"/>
                <a:ea typeface="A2Z 6 SemiBold" pitchFamily="2" charset="-127"/>
              </a:rPr>
              <a:t>(Conti.)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3544" y="1399592"/>
            <a:ext cx="2077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>
                <a:latin typeface="A2Z 3 Light" pitchFamily="2" charset="-127"/>
                <a:ea typeface="A2Z 3 Light" pitchFamily="2" charset="-127"/>
              </a:rPr>
              <a:t>핵심 </a:t>
            </a:r>
            <a:r>
              <a:rPr lang="ko-KR" altLang="ko-KR" b="1" dirty="0" err="1">
                <a:latin typeface="A2Z 3 Light" pitchFamily="2" charset="-127"/>
                <a:ea typeface="A2Z 3 Light" pitchFamily="2" charset="-127"/>
              </a:rPr>
              <a:t>차별점</a:t>
            </a:r>
            <a:r>
              <a:rPr lang="ko-KR" altLang="ko-KR" b="1" dirty="0">
                <a:latin typeface="A2Z 3 Light" pitchFamily="2" charset="-127"/>
                <a:ea typeface="A2Z 3 Light" pitchFamily="2" charset="-127"/>
              </a:rPr>
              <a:t> 요약</a:t>
            </a:r>
            <a:r>
              <a:rPr lang="en-US" altLang="ko-KR" b="1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en-US" altLang="ko-KR" b="1" dirty="0">
                <a:latin typeface="A2Z 3 Light" pitchFamily="2" charset="-127"/>
                <a:ea typeface="A2Z 3 Light" pitchFamily="2" charset="-127"/>
              </a:rPr>
            </a:br>
            <a:r>
              <a:rPr lang="ko-KR" altLang="ko-KR" b="1" dirty="0">
                <a:latin typeface="A2Z 3 Light" pitchFamily="2" charset="-127"/>
                <a:ea typeface="A2Z 3 Light" pitchFamily="2" charset="-127"/>
              </a:rPr>
              <a:t/>
            </a:r>
            <a:br>
              <a:rPr lang="ko-KR" altLang="ko-KR" b="1" dirty="0">
                <a:latin typeface="A2Z 3 Light" pitchFamily="2" charset="-127"/>
                <a:ea typeface="A2Z 3 Light" pitchFamily="2" charset="-127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292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E62D-234C-BACB-2D8A-7ACDFD52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1A7061-0087-BC7F-A1CD-A0BD9B7A10ED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3. 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실험 설계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544" y="1399592"/>
            <a:ext cx="392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환경 설계 </a:t>
            </a:r>
            <a:r>
              <a:rPr lang="en-US" altLang="ko-KR" b="1" dirty="0" smtClean="0">
                <a:latin typeface="A2Z 3 Light" pitchFamily="2" charset="-127"/>
                <a:ea typeface="A2Z 3 Light" pitchFamily="2" charset="-127"/>
              </a:rPr>
              <a:t>(MDP </a:t>
            </a:r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정의</a:t>
            </a:r>
            <a:r>
              <a:rPr lang="en-US" altLang="ko-KR" b="1" dirty="0" smtClean="0">
                <a:latin typeface="A2Z 3 Light" pitchFamily="2" charset="-127"/>
                <a:ea typeface="A2Z 3 Light" pitchFamily="2" charset="-127"/>
              </a:rPr>
              <a:t>) : </a:t>
            </a:r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구체화 필요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07089"/>
              </p:ext>
            </p:extLst>
          </p:nvPr>
        </p:nvGraphicFramePr>
        <p:xfrm>
          <a:off x="978456" y="2175158"/>
          <a:ext cx="8576091" cy="305394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09604">
                  <a:extLst>
                    <a:ext uri="{9D8B030D-6E8A-4147-A177-3AD203B41FA5}">
                      <a16:colId xmlns:a16="http://schemas.microsoft.com/office/drawing/2014/main" val="2538279944"/>
                    </a:ext>
                  </a:extLst>
                </a:gridCol>
                <a:gridCol w="7266487">
                  <a:extLst>
                    <a:ext uri="{9D8B030D-6E8A-4147-A177-3AD203B41FA5}">
                      <a16:colId xmlns:a16="http://schemas.microsoft.com/office/drawing/2014/main" val="3579704516"/>
                    </a:ext>
                  </a:extLst>
                </a:gridCol>
              </a:tblGrid>
              <a:tr h="47671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구성 요소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내용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35325938"/>
                  </a:ext>
                </a:extLst>
              </a:tr>
              <a:tr h="75691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State</a:t>
                      </a:r>
                      <a:endParaRPr lang="ko-KR" sz="18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RSI, SMA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단기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/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장기 비율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, Bollinger Band Width,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거래량 변화율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, </a:t>
                      </a:r>
                      <a: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/>
                      </a:r>
                      <a:b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</a:br>
                      <a:r>
                        <a:rPr lang="ko-KR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현재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포지션 여부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— Rolling z-score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정규화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/>
                      </a:r>
                      <a:b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</a:br>
                      <a:r>
                        <a:rPr lang="ko-KR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지표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간 상관관계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(±0.6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초과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확인 후 중복 지표 제거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(</a:t>
                      </a:r>
                      <a:r>
                        <a:rPr lang="en-US" sz="12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Gort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et al., 2022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방식 참고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13154755"/>
                  </a:ext>
                </a:extLst>
              </a:tr>
              <a:tr h="75684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Action</a:t>
                      </a:r>
                      <a:endParaRPr lang="ko-KR" sz="18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매수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/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매도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/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홀드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(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이산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3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개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). </a:t>
                      </a:r>
                      <a: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/>
                      </a:r>
                      <a:b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</a:br>
                      <a:r>
                        <a:rPr lang="ko-KR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홀드를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명시적 행동으로 포함하여 </a:t>
                      </a:r>
                      <a:r>
                        <a:rPr lang="ko-KR" sz="12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과매매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억제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/>
                      </a:r>
                      <a:b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</a:br>
                      <a: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2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학기에 연속 행동 공간으로 확장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44621266"/>
                  </a:ext>
                </a:extLst>
              </a:tr>
              <a:tr h="58676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Reward</a:t>
                      </a:r>
                      <a:endParaRPr lang="ko-KR" sz="18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로그 포트폴리오 수익률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+ </a:t>
                      </a:r>
                      <a:r>
                        <a:rPr lang="ko-KR" sz="12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과매매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억제 </a:t>
                      </a:r>
                      <a:r>
                        <a:rPr lang="ko-KR" sz="12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패널티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/>
                      </a:r>
                      <a:br>
                        <a:rPr lang="en-US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</a:br>
                      <a:r>
                        <a:rPr lang="ko-KR" sz="1200" dirty="0" smtClean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변동성 </a:t>
                      </a:r>
                      <a:r>
                        <a:rPr lang="ko-KR" sz="12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패널티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(λRt²)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는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Bandarupalli</a:t>
                      </a: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(2025)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에서 수익 기회를 억제하는 것으로 실증되어 제외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16398500"/>
                  </a:ext>
                </a:extLst>
              </a:tr>
              <a:tr h="47671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알고리즘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PPO (Proximal Policy Optimization) — stable-baselines3 </a:t>
                      </a:r>
                      <a:r>
                        <a:rPr lang="ko-KR" sz="12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라이브러리</a:t>
                      </a:r>
                      <a:endParaRPr lang="ko-KR" sz="18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01038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89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E62D-234C-BACB-2D8A-7ACDFD52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1A7061-0087-BC7F-A1CD-A0BD9B7A10ED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3. 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실험 설계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544" y="1399592"/>
            <a:ext cx="392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데이터 설계</a:t>
            </a:r>
            <a:endParaRPr lang="en-US" altLang="ko-KR" b="1" dirty="0" smtClean="0">
              <a:latin typeface="A2Z 3 Light" pitchFamily="2" charset="-127"/>
              <a:ea typeface="A2Z 3 Light" pitchFamily="2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97693"/>
              </p:ext>
            </p:extLst>
          </p:nvPr>
        </p:nvGraphicFramePr>
        <p:xfrm>
          <a:off x="978456" y="2175158"/>
          <a:ext cx="8563650" cy="180590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18041">
                  <a:extLst>
                    <a:ext uri="{9D8B030D-6E8A-4147-A177-3AD203B41FA5}">
                      <a16:colId xmlns:a16="http://schemas.microsoft.com/office/drawing/2014/main" val="2736011575"/>
                    </a:ext>
                  </a:extLst>
                </a:gridCol>
                <a:gridCol w="3388009">
                  <a:extLst>
                    <a:ext uri="{9D8B030D-6E8A-4147-A177-3AD203B41FA5}">
                      <a16:colId xmlns:a16="http://schemas.microsoft.com/office/drawing/2014/main" val="29236366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807775156"/>
                    </a:ext>
                  </a:extLst>
                </a:gridCol>
              </a:tblGrid>
              <a:tr h="37328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구분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기간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용도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23178886"/>
                  </a:ext>
                </a:extLst>
              </a:tr>
              <a:tr h="48424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Train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2018.01 — 2022.12 (5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년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에이전트 학습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. 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상승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·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하락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·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횡보 레짐 포함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1331332"/>
                  </a:ext>
                </a:extLst>
              </a:tr>
              <a:tr h="46741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Validation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2023.01 — 2023.12 (1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년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하이퍼파라미터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튜닝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33402971"/>
                  </a:ext>
                </a:extLst>
              </a:tr>
              <a:tr h="48096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Test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2024.01 — 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현재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(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봉인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최종 성능 평가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—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학습 전 과정에서 열람 금지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469717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8456" y="4711959"/>
            <a:ext cx="9334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 smtClean="0">
                <a:latin typeface="Gowun Batang" pitchFamily="2" charset="-127"/>
                <a:ea typeface="Gowun Batang" pitchFamily="2" charset="-127"/>
              </a:rPr>
              <a:t>테스트셋</a:t>
            </a:r>
            <a:r>
              <a:rPr lang="ko-KR" altLang="ko-KR" dirty="0" smtClean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봉인은</a:t>
            </a:r>
            <a:r>
              <a:rPr lang="en-US" altLang="ko-KR" dirty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en-US" altLang="ko-KR" dirty="0" err="1">
                <a:latin typeface="Gowun Batang" pitchFamily="2" charset="-127"/>
                <a:ea typeface="Gowun Batang" pitchFamily="2" charset="-127"/>
              </a:rPr>
              <a:t>Gort</a:t>
            </a:r>
            <a:r>
              <a:rPr lang="en-US" altLang="ko-KR" dirty="0">
                <a:latin typeface="Gowun Batang" pitchFamily="2" charset="-127"/>
                <a:ea typeface="Gowun Batang" pitchFamily="2" charset="-127"/>
              </a:rPr>
              <a:t> et al.(2022)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이 지적한 </a:t>
            </a:r>
            <a:r>
              <a:rPr lang="ko-KR" altLang="ko-KR" dirty="0" err="1">
                <a:latin typeface="Gowun Batang" pitchFamily="2" charset="-127"/>
                <a:ea typeface="Gowun Batang" pitchFamily="2" charset="-127"/>
              </a:rPr>
              <a:t>백테스트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ko-KR" altLang="ko-KR" dirty="0" err="1">
                <a:latin typeface="Gowun Batang" pitchFamily="2" charset="-127"/>
                <a:ea typeface="Gowun Batang" pitchFamily="2" charset="-127"/>
              </a:rPr>
              <a:t>과적합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 문제 방지를 위한 </a:t>
            </a:r>
            <a:r>
              <a:rPr lang="ko-KR" altLang="ko-KR" dirty="0" smtClean="0">
                <a:latin typeface="Gowun Batang" pitchFamily="2" charset="-127"/>
                <a:ea typeface="Gowun Batang" pitchFamily="2" charset="-127"/>
              </a:rPr>
              <a:t>설계</a:t>
            </a:r>
            <a:endParaRPr lang="en-US" altLang="ko-KR" dirty="0" smtClean="0">
              <a:latin typeface="Gowun Batang" pitchFamily="2" charset="-127"/>
              <a:ea typeface="Gowun Batang" pitchFamily="2" charset="-127"/>
            </a:endParaRPr>
          </a:p>
          <a:p>
            <a:r>
              <a:rPr lang="en-US" altLang="ko-KR" dirty="0" smtClean="0">
                <a:latin typeface="Gowun Batang" pitchFamily="2" charset="-127"/>
                <a:ea typeface="Gowun Batang" pitchFamily="2" charset="-127"/>
              </a:rPr>
              <a:t/>
            </a:r>
            <a:br>
              <a:rPr lang="en-US" altLang="ko-KR" dirty="0" smtClean="0">
                <a:latin typeface="Gowun Batang" pitchFamily="2" charset="-127"/>
                <a:ea typeface="Gowun Batang" pitchFamily="2" charset="-127"/>
              </a:rPr>
            </a:br>
            <a:r>
              <a:rPr lang="ko-KR" altLang="ko-KR" dirty="0" smtClean="0">
                <a:latin typeface="Gowun Batang" pitchFamily="2" charset="-127"/>
                <a:ea typeface="Gowun Batang" pitchFamily="2" charset="-127"/>
              </a:rPr>
              <a:t>검증 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구간은 단일 시장 국면이 아니라 상승</a:t>
            </a:r>
            <a:r>
              <a:rPr lang="en-US" altLang="ko-KR" dirty="0">
                <a:latin typeface="Gowun Batang" pitchFamily="2" charset="-127"/>
                <a:ea typeface="Gowun Batang" pitchFamily="2" charset="-127"/>
              </a:rPr>
              <a:t>·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하락</a:t>
            </a:r>
            <a:r>
              <a:rPr lang="en-US" altLang="ko-KR" dirty="0">
                <a:latin typeface="Gowun Batang" pitchFamily="2" charset="-127"/>
                <a:ea typeface="Gowun Batang" pitchFamily="2" charset="-127"/>
              </a:rPr>
              <a:t>·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횡보를 포함한 다양한 </a:t>
            </a:r>
            <a:r>
              <a:rPr lang="ko-KR" altLang="ko-KR" dirty="0" err="1">
                <a:latin typeface="Gowun Batang" pitchFamily="2" charset="-127"/>
                <a:ea typeface="Gowun Batang" pitchFamily="2" charset="-127"/>
              </a:rPr>
              <a:t>레짐으로</a:t>
            </a:r>
            <a:r>
              <a:rPr lang="ko-KR" altLang="ko-KR" dirty="0">
                <a:latin typeface="Gowun Batang" pitchFamily="2" charset="-127"/>
                <a:ea typeface="Gowun Batang" pitchFamily="2" charset="-127"/>
              </a:rPr>
              <a:t> </a:t>
            </a:r>
            <a:r>
              <a:rPr lang="ko-KR" altLang="ko-KR" dirty="0" smtClean="0">
                <a:latin typeface="Gowun Batang" pitchFamily="2" charset="-127"/>
                <a:ea typeface="Gowun Batang" pitchFamily="2" charset="-127"/>
              </a:rPr>
              <a:t>구성</a:t>
            </a:r>
            <a:endParaRPr lang="ko-KR" altLang="ko-KR" dirty="0">
              <a:latin typeface="Gowun Batang" pitchFamily="2" charset="-127"/>
              <a:ea typeface="Gowun Batang" pitchFamily="2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928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E62D-234C-BACB-2D8A-7ACDFD52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1A7061-0087-BC7F-A1CD-A0BD9B7A10ED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3. 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실험 설계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544" y="1399592"/>
            <a:ext cx="7548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>
                <a:latin typeface="A2Z 3 Light" pitchFamily="2" charset="-127"/>
                <a:ea typeface="A2Z 3 Light" pitchFamily="2" charset="-127"/>
              </a:rPr>
              <a:t>비교 </a:t>
            </a:r>
            <a:r>
              <a:rPr lang="ko-KR" altLang="ko-KR" b="1" dirty="0" smtClean="0">
                <a:latin typeface="A2Z 3 Light" pitchFamily="2" charset="-127"/>
                <a:ea typeface="A2Z 3 Light" pitchFamily="2" charset="-127"/>
              </a:rPr>
              <a:t>그룹</a:t>
            </a:r>
            <a:r>
              <a:rPr lang="en-US" altLang="ko-KR" b="1" dirty="0" smtClean="0">
                <a:latin typeface="A2Z 3 Light" pitchFamily="2" charset="-127"/>
                <a:ea typeface="A2Z 3 Light" pitchFamily="2" charset="-127"/>
              </a:rPr>
              <a:t> - </a:t>
            </a:r>
            <a:r>
              <a:rPr lang="en-US" altLang="ko-KR" dirty="0" smtClean="0">
                <a:latin typeface="A2Z 3 Light" pitchFamily="2" charset="-127"/>
                <a:ea typeface="A2Z 3 Light" pitchFamily="2" charset="-127"/>
              </a:rPr>
              <a:t>RL </a:t>
            </a:r>
            <a:r>
              <a:rPr lang="ko-KR" altLang="ko-KR" dirty="0">
                <a:latin typeface="A2Z 3 Light" pitchFamily="2" charset="-127"/>
                <a:ea typeface="A2Z 3 Light" pitchFamily="2" charset="-127"/>
              </a:rPr>
              <a:t>에이전트의 성능을 세 가지 베이스라인과 </a:t>
            </a:r>
            <a:r>
              <a:rPr lang="ko-KR" altLang="ko-KR" dirty="0" smtClean="0">
                <a:latin typeface="A2Z 3 Light" pitchFamily="2" charset="-127"/>
                <a:ea typeface="A2Z 3 Light" pitchFamily="2" charset="-127"/>
              </a:rPr>
              <a:t>비교</a:t>
            </a:r>
            <a:endParaRPr lang="ko-KR" altLang="ko-KR" dirty="0">
              <a:latin typeface="A2Z 3 Light" pitchFamily="2" charset="-127"/>
              <a:ea typeface="A2Z 3 Light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39401"/>
              </p:ext>
            </p:extLst>
          </p:nvPr>
        </p:nvGraphicFramePr>
        <p:xfrm>
          <a:off x="978456" y="2175158"/>
          <a:ext cx="8464124" cy="1807493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63048">
                  <a:extLst>
                    <a:ext uri="{9D8B030D-6E8A-4147-A177-3AD203B41FA5}">
                      <a16:colId xmlns:a16="http://schemas.microsoft.com/office/drawing/2014/main" val="208757524"/>
                    </a:ext>
                  </a:extLst>
                </a:gridCol>
                <a:gridCol w="3188347">
                  <a:extLst>
                    <a:ext uri="{9D8B030D-6E8A-4147-A177-3AD203B41FA5}">
                      <a16:colId xmlns:a16="http://schemas.microsoft.com/office/drawing/2014/main" val="3630439367"/>
                    </a:ext>
                  </a:extLst>
                </a:gridCol>
                <a:gridCol w="3212729">
                  <a:extLst>
                    <a:ext uri="{9D8B030D-6E8A-4147-A177-3AD203B41FA5}">
                      <a16:colId xmlns:a16="http://schemas.microsoft.com/office/drawing/2014/main" val="2130171874"/>
                    </a:ext>
                  </a:extLst>
                </a:gridCol>
              </a:tblGrid>
              <a:tr h="31336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비교 대상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설명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비교 목적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04750"/>
                  </a:ext>
                </a:extLst>
              </a:tr>
              <a:tr h="49751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Buy-and-Hold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BTC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단순 보유 전략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RL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이 아무것도 안 하는 것보다 나은가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344691"/>
                  </a:ext>
                </a:extLst>
              </a:tr>
              <a:tr h="49751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RSI 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단일 전략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RSI&lt;30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매수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, RSI&gt;70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매도 고정 규칙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RL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이 단순 역추세 규칙보다 나은가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38820"/>
                  </a:ext>
                </a:extLst>
              </a:tr>
              <a:tr h="49751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SMA Crossover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단기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/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장기 </a:t>
                      </a:r>
                      <a:r>
                        <a:rPr lang="ko-KR" sz="14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이동평균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교차 고정 규칙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RL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이 단순 추세 추종 규칙보다 나은가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535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48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E62D-234C-BACB-2D8A-7ACDFD52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1A7061-0087-BC7F-A1CD-A0BD9B7A10ED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3. 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실험 설계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544" y="1399592"/>
            <a:ext cx="7548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평가 지표</a:t>
            </a:r>
            <a:endParaRPr lang="ko-KR" altLang="ko-KR" dirty="0">
              <a:latin typeface="A2Z 3 Light" pitchFamily="2" charset="-127"/>
              <a:ea typeface="A2Z 3 Light" pitchFamily="2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454843"/>
              </p:ext>
            </p:extLst>
          </p:nvPr>
        </p:nvGraphicFramePr>
        <p:xfrm>
          <a:off x="978456" y="2175155"/>
          <a:ext cx="8321054" cy="180749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765695">
                  <a:extLst>
                    <a:ext uri="{9D8B030D-6E8A-4147-A177-3AD203B41FA5}">
                      <a16:colId xmlns:a16="http://schemas.microsoft.com/office/drawing/2014/main" val="669567819"/>
                    </a:ext>
                  </a:extLst>
                </a:gridCol>
                <a:gridCol w="5555359">
                  <a:extLst>
                    <a:ext uri="{9D8B030D-6E8A-4147-A177-3AD203B41FA5}">
                      <a16:colId xmlns:a16="http://schemas.microsoft.com/office/drawing/2014/main" val="2768947342"/>
                    </a:ext>
                  </a:extLst>
                </a:gridCol>
              </a:tblGrid>
              <a:tr h="3614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지표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설명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10101"/>
                  </a:ext>
                </a:extLst>
              </a:tr>
              <a:tr h="3614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누적 수익률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Buy-and-Hold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대비 초과 수익 여부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474206"/>
                  </a:ext>
                </a:extLst>
              </a:tr>
              <a:tr h="3614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Sharpe Ratio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리스크 조정 수익률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44398"/>
                  </a:ext>
                </a:extLst>
              </a:tr>
              <a:tr h="3614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MDD (Maximum Drawdown)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최대 낙폭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942201"/>
                  </a:ext>
                </a:extLst>
              </a:tr>
              <a:tr h="36149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거래 횟수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과매매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여부 확인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70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40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E62D-234C-BACB-2D8A-7ACDFD52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1A7061-0087-BC7F-A1CD-A0BD9B7A10ED}"/>
              </a:ext>
            </a:extLst>
          </p:cNvPr>
          <p:cNvSpPr txBox="1"/>
          <p:nvPr/>
        </p:nvSpPr>
        <p:spPr>
          <a:xfrm>
            <a:off x="923544" y="676656"/>
            <a:ext cx="4105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A2Z 6 SemiBold" pitchFamily="2" charset="-127"/>
                <a:ea typeface="A2Z 6 SemiBold" pitchFamily="2" charset="-127"/>
              </a:rPr>
              <a:t>4</a:t>
            </a:r>
            <a:r>
              <a:rPr lang="en-US" altLang="ko-KR" sz="3200" b="1" dirty="0" smtClean="0">
                <a:latin typeface="A2Z 6 SemiBold" pitchFamily="2" charset="-127"/>
                <a:ea typeface="A2Z 6 SemiBold" pitchFamily="2" charset="-127"/>
              </a:rPr>
              <a:t>. </a:t>
            </a:r>
            <a:r>
              <a:rPr lang="ko-KR" altLang="en-US" sz="3200" b="1" dirty="0" smtClean="0">
                <a:latin typeface="A2Z 6 SemiBold" pitchFamily="2" charset="-127"/>
                <a:ea typeface="A2Z 6 SemiBold" pitchFamily="2" charset="-127"/>
              </a:rPr>
              <a:t>예정 사항</a:t>
            </a:r>
            <a:endParaRPr lang="en-US" sz="3200" dirty="0">
              <a:latin typeface="A2Z 6 SemiBold" pitchFamily="2" charset="-127"/>
              <a:ea typeface="A2Z 6 Semi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544" y="1399592"/>
            <a:ext cx="7548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A2Z 3 Light" pitchFamily="2" charset="-127"/>
                <a:ea typeface="A2Z 3 Light" pitchFamily="2" charset="-127"/>
              </a:rPr>
              <a:t>1</a:t>
            </a:r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학기 실행 계획</a:t>
            </a:r>
            <a:endParaRPr lang="ko-KR" altLang="ko-KR" dirty="0">
              <a:latin typeface="A2Z 3 Light" pitchFamily="2" charset="-127"/>
              <a:ea typeface="A2Z 3 Light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999085"/>
              </p:ext>
            </p:extLst>
          </p:nvPr>
        </p:nvGraphicFramePr>
        <p:xfrm>
          <a:off x="978455" y="2175154"/>
          <a:ext cx="7898066" cy="2172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5048">
                  <a:extLst>
                    <a:ext uri="{9D8B030D-6E8A-4147-A177-3AD203B41FA5}">
                      <a16:colId xmlns:a16="http://schemas.microsoft.com/office/drawing/2014/main" val="4179341590"/>
                    </a:ext>
                  </a:extLst>
                </a:gridCol>
                <a:gridCol w="3325133">
                  <a:extLst>
                    <a:ext uri="{9D8B030D-6E8A-4147-A177-3AD203B41FA5}">
                      <a16:colId xmlns:a16="http://schemas.microsoft.com/office/drawing/2014/main" val="2142550167"/>
                    </a:ext>
                  </a:extLst>
                </a:gridCol>
                <a:gridCol w="3347885">
                  <a:extLst>
                    <a:ext uri="{9D8B030D-6E8A-4147-A177-3AD203B41FA5}">
                      <a16:colId xmlns:a16="http://schemas.microsoft.com/office/drawing/2014/main" val="2452427257"/>
                    </a:ext>
                  </a:extLst>
                </a:gridCol>
              </a:tblGrid>
              <a:tr h="4345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기간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목표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산출물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17971740"/>
                  </a:ext>
                </a:extLst>
              </a:tr>
              <a:tr h="4345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3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월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환경 구현 및 데이터 파이프라인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gym 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환경 코드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, BTC 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데이터 전처리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062206784"/>
                  </a:ext>
                </a:extLst>
              </a:tr>
              <a:tr h="4345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4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월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PPO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에이전트 학습 및 기초 실험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학습 곡선</a:t>
                      </a: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, 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기초 백테스트 결과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75976944"/>
                  </a:ext>
                </a:extLst>
              </a:tr>
              <a:tr h="4345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5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월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비교 실험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(</a:t>
                      </a:r>
                      <a:r>
                        <a:rPr lang="en-US" sz="1400" dirty="0" err="1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Buy-Hold·RSI·SMA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대비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)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3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개 베이스라인 대비 성능 비교표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17240870"/>
                  </a:ext>
                </a:extLst>
              </a:tr>
              <a:tr h="43458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6</a:t>
                      </a:r>
                      <a:r>
                        <a:rPr lang="ko-KR" sz="140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월</a:t>
                      </a:r>
                      <a:endParaRPr lang="ko-KR" sz="200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행동 패턴 분석 및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 1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학기 보고서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행동 분석 그래프</a:t>
                      </a:r>
                      <a:r>
                        <a:rPr lang="en-US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, </a:t>
                      </a:r>
                      <a:r>
                        <a:rPr lang="ko-KR" sz="1400" dirty="0">
                          <a:effectLst/>
                          <a:latin typeface="A2Z 3 Light" pitchFamily="2" charset="-127"/>
                          <a:ea typeface="A2Z 3 Light" pitchFamily="2" charset="-127"/>
                        </a:rPr>
                        <a:t>중간 보고서</a:t>
                      </a:r>
                      <a:endParaRPr lang="ko-KR" sz="2000" dirty="0">
                        <a:effectLst/>
                        <a:latin typeface="A2Z 3 Light" pitchFamily="2" charset="-127"/>
                        <a:ea typeface="A2Z 3 Light" pitchFamily="2" charset="-127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471471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23544" y="4687078"/>
            <a:ext cx="7548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latin typeface="A2Z 3 Light" pitchFamily="2" charset="-127"/>
                <a:ea typeface="A2Z 3 Light" pitchFamily="2" charset="-127"/>
              </a:rPr>
              <a:t>다음 예정 사항</a:t>
            </a:r>
            <a:endParaRPr lang="ko-KR" altLang="ko-KR" dirty="0">
              <a:latin typeface="A2Z 3 Light" pitchFamily="2" charset="-127"/>
              <a:ea typeface="A2Z 3 Light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8455" y="5395424"/>
            <a:ext cx="9334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smtClean="0">
                <a:latin typeface="Gowun Batang" pitchFamily="2" charset="-127"/>
                <a:ea typeface="Gowun Batang" pitchFamily="2" charset="-127"/>
              </a:rPr>
              <a:t>MDP </a:t>
            </a:r>
            <a:r>
              <a:rPr lang="ko-KR" altLang="en-US" dirty="0" smtClean="0">
                <a:latin typeface="Gowun Batang" pitchFamily="2" charset="-127"/>
                <a:ea typeface="Gowun Batang" pitchFamily="2" charset="-127"/>
              </a:rPr>
              <a:t>구체화</a:t>
            </a:r>
            <a:r>
              <a:rPr lang="en-US" altLang="ko-KR" dirty="0" smtClean="0">
                <a:latin typeface="Gowun Batang" pitchFamily="2" charset="-127"/>
                <a:ea typeface="Gowun Batang" pitchFamily="2" charset="-127"/>
              </a:rPr>
              <a:t>(</a:t>
            </a:r>
            <a:r>
              <a:rPr lang="ko-KR" altLang="en-US" dirty="0" smtClean="0">
                <a:latin typeface="Gowun Batang" pitchFamily="2" charset="-127"/>
                <a:ea typeface="Gowun Batang" pitchFamily="2" charset="-127"/>
              </a:rPr>
              <a:t>보상 함수 수식</a:t>
            </a:r>
            <a:r>
              <a:rPr lang="en-US" altLang="ko-KR" dirty="0" smtClean="0">
                <a:latin typeface="Gowun Batang" pitchFamily="2" charset="-127"/>
                <a:ea typeface="Gowun Batang" pitchFamily="2" charset="-127"/>
              </a:rPr>
              <a:t>, state </a:t>
            </a:r>
            <a:r>
              <a:rPr lang="ko-KR" altLang="en-US" dirty="0" smtClean="0">
                <a:latin typeface="Gowun Batang" pitchFamily="2" charset="-127"/>
                <a:ea typeface="Gowun Batang" pitchFamily="2" charset="-127"/>
              </a:rPr>
              <a:t>벡터 구성</a:t>
            </a:r>
            <a:r>
              <a:rPr lang="en-US" altLang="ko-KR" dirty="0" smtClean="0">
                <a:latin typeface="Gowun Batang" pitchFamily="2" charset="-127"/>
                <a:ea typeface="Gowun Batang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 smtClean="0">
                <a:latin typeface="Gowun Batang" pitchFamily="2" charset="-127"/>
                <a:ea typeface="Gowun Batang" pitchFamily="2" charset="-127"/>
              </a:rPr>
              <a:t>환경 </a:t>
            </a:r>
            <a:r>
              <a:rPr lang="ko-KR" altLang="en-US" dirty="0">
                <a:latin typeface="Gowun Batang" pitchFamily="2" charset="-127"/>
                <a:ea typeface="Gowun Batang" pitchFamily="2" charset="-127"/>
              </a:rPr>
              <a:t>구현 및 데이터 파이프라인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192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675</Words>
  <Application>Microsoft Office PowerPoint</Application>
  <PresentationFormat>와이드스크린</PresentationFormat>
  <Paragraphs>135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A2Z 6 SemiBold</vt:lpstr>
      <vt:lpstr>A2Z 5 Medium</vt:lpstr>
      <vt:lpstr>Aptos Display</vt:lpstr>
      <vt:lpstr>맑은 고딕</vt:lpstr>
      <vt:lpstr>A2Z 3 Light</vt:lpstr>
      <vt:lpstr>Aptos</vt:lpstr>
      <vt:lpstr>Arial</vt:lpstr>
      <vt:lpstr>Gowun Batang</vt:lpstr>
      <vt:lpstr>Office Theme</vt:lpstr>
      <vt:lpstr>가격 예측 없이 기술지표만을 state로 사용하는  PPO 기반 강화학습 에이전트의  비트코인 트레이딩 전략 학습 및 행동 패턴 분석</vt:lpstr>
      <vt:lpstr>Contents 1. 선행 연구  2. 차별점  3. 실험 설계  4. 예정 사항  </vt:lpstr>
      <vt:lpstr>PowerPoint 프레젠테이션</vt:lpstr>
      <vt:lpstr>(설계 반영 ) Gort et al.(2022)은 DRL 트레이딩 연구 대부분이 단일 검증셋 사용으로 백테스트 과적합을 보고하였다.  본 연구는 이를 반영하여 테스트셋을 학습 전 과정에서 봉인하고 다양한 시장 레짐에 걸친 검증 구간을 설계한다. </vt:lpstr>
      <vt:lpstr>1. 가격 예측 단계를 완전히 제거하고 현재 기술지표에만 반응하는 구조다.      Liu et al.(2021)의 예측 의존 파이프라인과 구별된다.  2. 사전 정의된 전략 없이 에이전트가 매수·매도 조건을 직접 학습한다.      Pham et al.(2025)의 메타-전략 선택 구조와 구별된다.  3. 기술지표를 PCA로 변환하지 않고 원형 그대로 state로 유지한다.      학습 후 에이전트가 어떤 지표 상태에서 어떤 행동을 했는지 분석 가능하다.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변동성 기반, 정액 분할매매  전략의 설계와  금융 시장에서의 검증</dc:title>
  <dc:creator>이찬희</dc:creator>
  <cp:lastModifiedBy>이찬희</cp:lastModifiedBy>
  <cp:revision>11</cp:revision>
  <dcterms:created xsi:type="dcterms:W3CDTF">2026-03-12T06:38:09Z</dcterms:created>
  <dcterms:modified xsi:type="dcterms:W3CDTF">2026-03-27T00:16:07Z</dcterms:modified>
</cp:coreProperties>
</file>